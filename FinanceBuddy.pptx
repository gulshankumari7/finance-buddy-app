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8" r:id="rId3"/>
    <p:sldId id="259" r:id="rId4"/>
    <p:sldId id="260" r:id="rId5"/>
    <p:sldId id="276" r:id="rId6"/>
    <p:sldId id="262" r:id="rId7"/>
    <p:sldId id="264" r:id="rId8"/>
    <p:sldId id="266" r:id="rId9"/>
    <p:sldId id="267" r:id="rId10"/>
    <p:sldId id="269"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089" autoAdjust="0"/>
    <p:restoredTop sz="94659"/>
  </p:normalViewPr>
  <p:slideViewPr>
    <p:cSldViewPr snapToGrid="0">
      <p:cViewPr>
        <p:scale>
          <a:sx n="69" d="100"/>
          <a:sy n="69" d="100"/>
        </p:scale>
        <p:origin x="752" y="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63A374-E257-BA40-8027-2F76366D0775}" type="datetimeFigureOut">
              <a:rPr lang="en-US" smtClean="0"/>
              <a:t>4/13/2026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0A341E-1834-1A45-B594-3CD153D3973B}" type="slidenum">
              <a:rPr lang="en-US" smtClean="0"/>
              <a:t>‹#›</a:t>
            </a:fld>
            <a:endParaRPr lang="en-US"/>
          </a:p>
        </p:txBody>
      </p:sp>
    </p:spTree>
    <p:extLst>
      <p:ext uri="{BB962C8B-B14F-4D97-AF65-F5344CB8AC3E}">
        <p14:creationId xmlns:p14="http://schemas.microsoft.com/office/powerpoint/2010/main" val="3830509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p:cNvSpPr>
            <a:spLocks noGrp="1"/>
          </p:cNvSpPr>
          <p:nvPr>
            <p:ph type="sldNum" sz="quarter" idx="5"/>
          </p:nvPr>
        </p:nvSpPr>
        <p:spPr/>
        <p:txBody>
          <a:bodyPr/>
          <a:lstStyle/>
          <a:p>
            <a:fld id="{7919DA09-95EA-445C-8C87-C274365D506A}" type="slidenum">
              <a:rPr lang="en-IN" smtClean="0"/>
              <a:t>2</a:t>
            </a:fld>
            <a:endParaRPr lang="en-IN"/>
          </a:p>
        </p:txBody>
      </p:sp>
    </p:spTree>
    <p:extLst>
      <p:ext uri="{BB962C8B-B14F-4D97-AF65-F5344CB8AC3E}">
        <p14:creationId xmlns:p14="http://schemas.microsoft.com/office/powerpoint/2010/main" val="1162418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6BE56-EE12-A068-7411-268FC106A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20719-7949-65F4-8567-807B824705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093F43-CD27-67E6-F270-891B76509BC5}"/>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E7549705-963A-05A0-9B13-88F583F8A0CD}"/>
              </a:ext>
            </a:extLst>
          </p:cNvPr>
          <p:cNvSpPr>
            <a:spLocks noGrp="1"/>
          </p:cNvSpPr>
          <p:nvPr>
            <p:ph type="sldNum" sz="quarter" idx="5"/>
          </p:nvPr>
        </p:nvSpPr>
        <p:spPr/>
        <p:txBody>
          <a:bodyPr/>
          <a:lstStyle/>
          <a:p>
            <a:fld id="{7919DA09-95EA-445C-8C87-C274365D506A}" type="slidenum">
              <a:rPr lang="en-IN" smtClean="0"/>
              <a:t>3</a:t>
            </a:fld>
            <a:endParaRPr lang="en-IN"/>
          </a:p>
        </p:txBody>
      </p:sp>
    </p:spTree>
    <p:extLst>
      <p:ext uri="{BB962C8B-B14F-4D97-AF65-F5344CB8AC3E}">
        <p14:creationId xmlns:p14="http://schemas.microsoft.com/office/powerpoint/2010/main" val="3640149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90C58-30EB-33E3-EF44-3DB9F34A5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FC2EB-83B8-88ED-F0B3-6821DDF228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F76099-BC16-C0D6-F315-4BC62070E3F9}"/>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E2A9CDA9-0E55-9774-8481-CF12B566A576}"/>
              </a:ext>
            </a:extLst>
          </p:cNvPr>
          <p:cNvSpPr>
            <a:spLocks noGrp="1"/>
          </p:cNvSpPr>
          <p:nvPr>
            <p:ph type="sldNum" sz="quarter" idx="5"/>
          </p:nvPr>
        </p:nvSpPr>
        <p:spPr/>
        <p:txBody>
          <a:bodyPr/>
          <a:lstStyle/>
          <a:p>
            <a:fld id="{7919DA09-95EA-445C-8C87-C274365D506A}" type="slidenum">
              <a:rPr lang="en-IN" smtClean="0"/>
              <a:t>4</a:t>
            </a:fld>
            <a:endParaRPr lang="en-IN"/>
          </a:p>
        </p:txBody>
      </p:sp>
    </p:spTree>
    <p:extLst>
      <p:ext uri="{BB962C8B-B14F-4D97-AF65-F5344CB8AC3E}">
        <p14:creationId xmlns:p14="http://schemas.microsoft.com/office/powerpoint/2010/main" val="2767482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FD23A-7A24-D5F0-0516-A1D64FFE4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63BC1-5DFE-8FA4-1413-E33597F89A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82184-4F7D-6F2F-263C-C6681DEAAC6B}"/>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BB6CBB31-9976-2511-D035-7DEBF35FA2B9}"/>
              </a:ext>
            </a:extLst>
          </p:cNvPr>
          <p:cNvSpPr>
            <a:spLocks noGrp="1"/>
          </p:cNvSpPr>
          <p:nvPr>
            <p:ph type="sldNum" sz="quarter" idx="5"/>
          </p:nvPr>
        </p:nvSpPr>
        <p:spPr/>
        <p:txBody>
          <a:bodyPr/>
          <a:lstStyle/>
          <a:p>
            <a:fld id="{7919DA09-95EA-445C-8C87-C274365D506A}" type="slidenum">
              <a:rPr lang="en-IN" smtClean="0"/>
              <a:t>5</a:t>
            </a:fld>
            <a:endParaRPr lang="en-IN"/>
          </a:p>
        </p:txBody>
      </p:sp>
    </p:spTree>
    <p:extLst>
      <p:ext uri="{BB962C8B-B14F-4D97-AF65-F5344CB8AC3E}">
        <p14:creationId xmlns:p14="http://schemas.microsoft.com/office/powerpoint/2010/main" val="763271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FD23A-7A24-D5F0-0516-A1D64FFE4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63BC1-5DFE-8FA4-1413-E33597F89A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82184-4F7D-6F2F-263C-C6681DEAAC6B}"/>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BB6CBB31-9976-2511-D035-7DEBF35FA2B9}"/>
              </a:ext>
            </a:extLst>
          </p:cNvPr>
          <p:cNvSpPr>
            <a:spLocks noGrp="1"/>
          </p:cNvSpPr>
          <p:nvPr>
            <p:ph type="sldNum" sz="quarter" idx="5"/>
          </p:nvPr>
        </p:nvSpPr>
        <p:spPr/>
        <p:txBody>
          <a:bodyPr/>
          <a:lstStyle/>
          <a:p>
            <a:fld id="{7919DA09-95EA-445C-8C87-C274365D506A}" type="slidenum">
              <a:rPr lang="en-IN" smtClean="0"/>
              <a:t>6</a:t>
            </a:fld>
            <a:endParaRPr lang="en-IN"/>
          </a:p>
        </p:txBody>
      </p:sp>
    </p:spTree>
    <p:extLst>
      <p:ext uri="{BB962C8B-B14F-4D97-AF65-F5344CB8AC3E}">
        <p14:creationId xmlns:p14="http://schemas.microsoft.com/office/powerpoint/2010/main" val="7632716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DC66E-0EBF-BA36-EFB2-E592E49533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D3ABEA-D491-628E-3291-E60B43BFCB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2A1F80-F08E-874A-8BD9-E84B30FEDDD0}"/>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B75A263E-C21C-701F-7953-FB790DD27688}"/>
              </a:ext>
            </a:extLst>
          </p:cNvPr>
          <p:cNvSpPr>
            <a:spLocks noGrp="1"/>
          </p:cNvSpPr>
          <p:nvPr>
            <p:ph type="sldNum" sz="quarter" idx="5"/>
          </p:nvPr>
        </p:nvSpPr>
        <p:spPr/>
        <p:txBody>
          <a:bodyPr/>
          <a:lstStyle/>
          <a:p>
            <a:fld id="{7919DA09-95EA-445C-8C87-C274365D506A}" type="slidenum">
              <a:rPr lang="en-IN" smtClean="0"/>
              <a:t>7</a:t>
            </a:fld>
            <a:endParaRPr lang="en-IN"/>
          </a:p>
        </p:txBody>
      </p:sp>
    </p:spTree>
    <p:extLst>
      <p:ext uri="{BB962C8B-B14F-4D97-AF65-F5344CB8AC3E}">
        <p14:creationId xmlns:p14="http://schemas.microsoft.com/office/powerpoint/2010/main" val="1400548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D652A-BA82-B828-30CD-4F38C2922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9A1B93-0E48-0FD5-048F-3DC3C2E09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F96148-975E-DEEF-31C9-F814A491072F}"/>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01574BBB-D07F-F4E0-C81B-DC6F152095FA}"/>
              </a:ext>
            </a:extLst>
          </p:cNvPr>
          <p:cNvSpPr>
            <a:spLocks noGrp="1"/>
          </p:cNvSpPr>
          <p:nvPr>
            <p:ph type="sldNum" sz="quarter" idx="5"/>
          </p:nvPr>
        </p:nvSpPr>
        <p:spPr/>
        <p:txBody>
          <a:bodyPr/>
          <a:lstStyle/>
          <a:p>
            <a:fld id="{7919DA09-95EA-445C-8C87-C274365D506A}" type="slidenum">
              <a:rPr lang="en-IN" smtClean="0"/>
              <a:t>8</a:t>
            </a:fld>
            <a:endParaRPr lang="en-IN"/>
          </a:p>
        </p:txBody>
      </p:sp>
    </p:spTree>
    <p:extLst>
      <p:ext uri="{BB962C8B-B14F-4D97-AF65-F5344CB8AC3E}">
        <p14:creationId xmlns:p14="http://schemas.microsoft.com/office/powerpoint/2010/main" val="1741658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F830B-382D-4FD6-434E-0BBDCF5E8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96566-B6F3-EC01-B4A3-3FB85FCCDA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4399BA-F3EB-A22D-A4FF-0C2EFD0CFD1A}"/>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2AD36BCB-BBD4-7CE0-64D2-8A144E8262F9}"/>
              </a:ext>
            </a:extLst>
          </p:cNvPr>
          <p:cNvSpPr>
            <a:spLocks noGrp="1"/>
          </p:cNvSpPr>
          <p:nvPr>
            <p:ph type="sldNum" sz="quarter" idx="5"/>
          </p:nvPr>
        </p:nvSpPr>
        <p:spPr/>
        <p:txBody>
          <a:bodyPr/>
          <a:lstStyle/>
          <a:p>
            <a:fld id="{7919DA09-95EA-445C-8C87-C274365D506A}" type="slidenum">
              <a:rPr lang="en-IN" smtClean="0"/>
              <a:t>9</a:t>
            </a:fld>
            <a:endParaRPr lang="en-IN"/>
          </a:p>
        </p:txBody>
      </p:sp>
    </p:spTree>
    <p:extLst>
      <p:ext uri="{BB962C8B-B14F-4D97-AF65-F5344CB8AC3E}">
        <p14:creationId xmlns:p14="http://schemas.microsoft.com/office/powerpoint/2010/main" val="3154930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6792D-C446-A432-47BF-358D3377EA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664D56-752E-AAB8-FA6C-6D6DCD316C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BE22E6-5FEC-279A-D1E5-BD37553BA925}"/>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B3DDA503-B28B-DAF6-06B1-25C3B157A1D6}"/>
              </a:ext>
            </a:extLst>
          </p:cNvPr>
          <p:cNvSpPr>
            <a:spLocks noGrp="1"/>
          </p:cNvSpPr>
          <p:nvPr>
            <p:ph type="sldNum" sz="quarter" idx="5"/>
          </p:nvPr>
        </p:nvSpPr>
        <p:spPr/>
        <p:txBody>
          <a:bodyPr/>
          <a:lstStyle/>
          <a:p>
            <a:fld id="{7919DA09-95EA-445C-8C87-C274365D506A}" type="slidenum">
              <a:rPr lang="en-IN" smtClean="0"/>
              <a:t>10</a:t>
            </a:fld>
            <a:endParaRPr lang="en-IN"/>
          </a:p>
        </p:txBody>
      </p:sp>
    </p:spTree>
    <p:extLst>
      <p:ext uri="{BB962C8B-B14F-4D97-AF65-F5344CB8AC3E}">
        <p14:creationId xmlns:p14="http://schemas.microsoft.com/office/powerpoint/2010/main" val="7447901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67E67-3BFC-BDEF-8A87-69915E028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C607F-B2C3-67D4-ECF1-8B50363CFC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665FB2-1C9D-4050-EC01-3E3199597CB5}"/>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F26BA3AD-C1FB-EA75-B7B4-E8A6244F1F42}"/>
              </a:ext>
            </a:extLst>
          </p:cNvPr>
          <p:cNvSpPr>
            <a:spLocks noGrp="1"/>
          </p:cNvSpPr>
          <p:nvPr>
            <p:ph type="sldNum" sz="quarter" idx="5"/>
          </p:nvPr>
        </p:nvSpPr>
        <p:spPr/>
        <p:txBody>
          <a:bodyPr/>
          <a:lstStyle/>
          <a:p>
            <a:fld id="{7919DA09-95EA-445C-8C87-C274365D506A}" type="slidenum">
              <a:rPr lang="en-IN" smtClean="0"/>
              <a:t>11</a:t>
            </a:fld>
            <a:endParaRPr lang="en-IN"/>
          </a:p>
        </p:txBody>
      </p:sp>
    </p:spTree>
    <p:extLst>
      <p:ext uri="{BB962C8B-B14F-4D97-AF65-F5344CB8AC3E}">
        <p14:creationId xmlns:p14="http://schemas.microsoft.com/office/powerpoint/2010/main" val="3009000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033B-C1CB-1754-9CFB-86BF8AE30DE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77F7485-6AB7-ED91-AD1E-F6AF832150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112DE61-1E8E-21E6-91F5-9ACFEE0A5AF2}"/>
              </a:ext>
            </a:extLst>
          </p:cNvPr>
          <p:cNvSpPr>
            <a:spLocks noGrp="1"/>
          </p:cNvSpPr>
          <p:nvPr>
            <p:ph type="dt" sz="half" idx="10"/>
          </p:nvPr>
        </p:nvSpPr>
        <p:spPr/>
        <p:txBody>
          <a:bodyPr/>
          <a:lstStyle/>
          <a:p>
            <a:fld id="{CCD0576A-07DB-3B46-AC99-97A70AE23956}" type="datetimeFigureOut">
              <a:rPr lang="en-US" smtClean="0"/>
              <a:t>4/13/2026</a:t>
            </a:fld>
            <a:endParaRPr lang="en-US"/>
          </a:p>
        </p:txBody>
      </p:sp>
      <p:sp>
        <p:nvSpPr>
          <p:cNvPr id="5" name="Footer Placeholder 4">
            <a:extLst>
              <a:ext uri="{FF2B5EF4-FFF2-40B4-BE49-F238E27FC236}">
                <a16:creationId xmlns:a16="http://schemas.microsoft.com/office/drawing/2014/main" id="{3BB0C74B-DB87-D74C-25EF-E2DFA9BBC0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94EB34-C25C-43DD-1A50-13C7E6692ABB}"/>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1485319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B85E8-D1F0-3201-C513-282DAD84649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A2AC0AD-2C49-613F-7309-CA7169803DD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11593B-EACA-5742-BD7F-BBE8EF098D91}"/>
              </a:ext>
            </a:extLst>
          </p:cNvPr>
          <p:cNvSpPr>
            <a:spLocks noGrp="1"/>
          </p:cNvSpPr>
          <p:nvPr>
            <p:ph type="dt" sz="half" idx="10"/>
          </p:nvPr>
        </p:nvSpPr>
        <p:spPr/>
        <p:txBody>
          <a:bodyPr/>
          <a:lstStyle/>
          <a:p>
            <a:fld id="{CCD0576A-07DB-3B46-AC99-97A70AE23956}" type="datetimeFigureOut">
              <a:rPr lang="en-US" smtClean="0"/>
              <a:t>4/13/2026</a:t>
            </a:fld>
            <a:endParaRPr lang="en-US"/>
          </a:p>
        </p:txBody>
      </p:sp>
      <p:sp>
        <p:nvSpPr>
          <p:cNvPr id="5" name="Footer Placeholder 4">
            <a:extLst>
              <a:ext uri="{FF2B5EF4-FFF2-40B4-BE49-F238E27FC236}">
                <a16:creationId xmlns:a16="http://schemas.microsoft.com/office/drawing/2014/main" id="{C6032B52-D214-778D-EBBC-4D434F2DF0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A6133C-3644-B4AE-38D1-B6502E79464E}"/>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4262088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390C2-0E03-59D3-2EC9-A7CEBD2A0C3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063D4C1-E515-B744-7095-139C57B2CA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8609EE3-1AD3-FA54-93C5-86879BAC8DA5}"/>
              </a:ext>
            </a:extLst>
          </p:cNvPr>
          <p:cNvSpPr>
            <a:spLocks noGrp="1"/>
          </p:cNvSpPr>
          <p:nvPr>
            <p:ph type="dt" sz="half" idx="10"/>
          </p:nvPr>
        </p:nvSpPr>
        <p:spPr/>
        <p:txBody>
          <a:bodyPr/>
          <a:lstStyle/>
          <a:p>
            <a:fld id="{CCD0576A-07DB-3B46-AC99-97A70AE23956}" type="datetimeFigureOut">
              <a:rPr lang="en-US" smtClean="0"/>
              <a:t>4/13/2026</a:t>
            </a:fld>
            <a:endParaRPr lang="en-US"/>
          </a:p>
        </p:txBody>
      </p:sp>
      <p:sp>
        <p:nvSpPr>
          <p:cNvPr id="5" name="Footer Placeholder 4">
            <a:extLst>
              <a:ext uri="{FF2B5EF4-FFF2-40B4-BE49-F238E27FC236}">
                <a16:creationId xmlns:a16="http://schemas.microsoft.com/office/drawing/2014/main" id="{9019E5D3-42E2-501B-4318-0A159470AA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0B1FAE-A829-24D5-8503-C294C28F83B0}"/>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3501454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3B38F-72B4-7564-C133-A8CAF7D4EC1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0B9F648-9D9E-7763-6BAB-B390C53F903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3456F47-3898-C18D-71A7-B777853035E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C2CE839-A226-7F30-2E42-D8C07E5146FB}"/>
              </a:ext>
            </a:extLst>
          </p:cNvPr>
          <p:cNvSpPr>
            <a:spLocks noGrp="1"/>
          </p:cNvSpPr>
          <p:nvPr>
            <p:ph type="dt" sz="half" idx="10"/>
          </p:nvPr>
        </p:nvSpPr>
        <p:spPr/>
        <p:txBody>
          <a:bodyPr/>
          <a:lstStyle/>
          <a:p>
            <a:fld id="{CCD0576A-07DB-3B46-AC99-97A70AE23956}" type="datetimeFigureOut">
              <a:rPr lang="en-US" smtClean="0"/>
              <a:t>4/13/2026</a:t>
            </a:fld>
            <a:endParaRPr lang="en-US"/>
          </a:p>
        </p:txBody>
      </p:sp>
      <p:sp>
        <p:nvSpPr>
          <p:cNvPr id="6" name="Footer Placeholder 5">
            <a:extLst>
              <a:ext uri="{FF2B5EF4-FFF2-40B4-BE49-F238E27FC236}">
                <a16:creationId xmlns:a16="http://schemas.microsoft.com/office/drawing/2014/main" id="{CDCF7FCD-23EC-B0DD-BE70-3A095C4943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794252-86A4-63D0-754B-CBB385D3C73B}"/>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1740062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D59CE-6C76-046E-841B-6EA0F787154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7BA51E6-7D4F-39D6-DA6C-601B639020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8D4CA2B-944D-91E6-F3C1-9E8B8804FA7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9667490-A622-5F5B-FFA5-1191FC5F87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9E8B953-35E2-D50D-3C23-96F3EA8A961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D078F9F-EF39-1158-FFBB-B082D766A6DE}"/>
              </a:ext>
            </a:extLst>
          </p:cNvPr>
          <p:cNvSpPr>
            <a:spLocks noGrp="1"/>
          </p:cNvSpPr>
          <p:nvPr>
            <p:ph type="dt" sz="half" idx="10"/>
          </p:nvPr>
        </p:nvSpPr>
        <p:spPr/>
        <p:txBody>
          <a:bodyPr/>
          <a:lstStyle/>
          <a:p>
            <a:fld id="{CCD0576A-07DB-3B46-AC99-97A70AE23956}" type="datetimeFigureOut">
              <a:rPr lang="en-US" smtClean="0"/>
              <a:t>4/13/2026</a:t>
            </a:fld>
            <a:endParaRPr lang="en-US"/>
          </a:p>
        </p:txBody>
      </p:sp>
      <p:sp>
        <p:nvSpPr>
          <p:cNvPr id="8" name="Footer Placeholder 7">
            <a:extLst>
              <a:ext uri="{FF2B5EF4-FFF2-40B4-BE49-F238E27FC236}">
                <a16:creationId xmlns:a16="http://schemas.microsoft.com/office/drawing/2014/main" id="{E17A79C8-D42A-D086-9A2C-59BDC44BBD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C02294-325E-C44F-6A05-FBDBCF942B4B}"/>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1449084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E6425-17EE-1CF7-BD80-9B51FD9611B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B714A2E-804D-2430-8785-8198012E9AE4}"/>
              </a:ext>
            </a:extLst>
          </p:cNvPr>
          <p:cNvSpPr>
            <a:spLocks noGrp="1"/>
          </p:cNvSpPr>
          <p:nvPr>
            <p:ph type="dt" sz="half" idx="10"/>
          </p:nvPr>
        </p:nvSpPr>
        <p:spPr/>
        <p:txBody>
          <a:bodyPr/>
          <a:lstStyle/>
          <a:p>
            <a:fld id="{CCD0576A-07DB-3B46-AC99-97A70AE23956}" type="datetimeFigureOut">
              <a:rPr lang="en-US" smtClean="0"/>
              <a:t>4/13/2026</a:t>
            </a:fld>
            <a:endParaRPr lang="en-US"/>
          </a:p>
        </p:txBody>
      </p:sp>
      <p:sp>
        <p:nvSpPr>
          <p:cNvPr id="4" name="Footer Placeholder 3">
            <a:extLst>
              <a:ext uri="{FF2B5EF4-FFF2-40B4-BE49-F238E27FC236}">
                <a16:creationId xmlns:a16="http://schemas.microsoft.com/office/drawing/2014/main" id="{BB6E586F-1A2C-46B0-E88F-42E97FF8F1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E40DCC0-E42B-4E16-2659-DE7666BDE83A}"/>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2896704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4DC0D8-D29F-7928-5C8E-932C35C7999E}"/>
              </a:ext>
            </a:extLst>
          </p:cNvPr>
          <p:cNvSpPr>
            <a:spLocks noGrp="1"/>
          </p:cNvSpPr>
          <p:nvPr>
            <p:ph type="dt" sz="half" idx="10"/>
          </p:nvPr>
        </p:nvSpPr>
        <p:spPr/>
        <p:txBody>
          <a:bodyPr/>
          <a:lstStyle/>
          <a:p>
            <a:fld id="{CCD0576A-07DB-3B46-AC99-97A70AE23956}" type="datetimeFigureOut">
              <a:rPr lang="en-US" smtClean="0"/>
              <a:t>4/13/2026</a:t>
            </a:fld>
            <a:endParaRPr lang="en-US"/>
          </a:p>
        </p:txBody>
      </p:sp>
      <p:sp>
        <p:nvSpPr>
          <p:cNvPr id="3" name="Footer Placeholder 2">
            <a:extLst>
              <a:ext uri="{FF2B5EF4-FFF2-40B4-BE49-F238E27FC236}">
                <a16:creationId xmlns:a16="http://schemas.microsoft.com/office/drawing/2014/main" id="{A46381DF-626E-EA82-70A9-10E124594E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6DBE00-CBB3-2EA9-A8AD-EED32DAA2585}"/>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2683688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F6360-D970-1460-9ACE-C05150BFB3B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9589798-D111-FBE5-6324-CC95E2CD34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540DC15-10D0-0F6F-3033-BC7F116A9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4F4E66B-040C-17B4-ADF5-813D37631EB3}"/>
              </a:ext>
            </a:extLst>
          </p:cNvPr>
          <p:cNvSpPr>
            <a:spLocks noGrp="1"/>
          </p:cNvSpPr>
          <p:nvPr>
            <p:ph type="dt" sz="half" idx="10"/>
          </p:nvPr>
        </p:nvSpPr>
        <p:spPr/>
        <p:txBody>
          <a:bodyPr/>
          <a:lstStyle/>
          <a:p>
            <a:fld id="{CCD0576A-07DB-3B46-AC99-97A70AE23956}" type="datetimeFigureOut">
              <a:rPr lang="en-US" smtClean="0"/>
              <a:t>4/13/2026</a:t>
            </a:fld>
            <a:endParaRPr lang="en-US"/>
          </a:p>
        </p:txBody>
      </p:sp>
      <p:sp>
        <p:nvSpPr>
          <p:cNvPr id="6" name="Footer Placeholder 5">
            <a:extLst>
              <a:ext uri="{FF2B5EF4-FFF2-40B4-BE49-F238E27FC236}">
                <a16:creationId xmlns:a16="http://schemas.microsoft.com/office/drawing/2014/main" id="{261D7DC8-6E0F-8333-626D-418440093A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E94196-7598-4217-57B3-7873D5820FF6}"/>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2142330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25154-D40A-B42C-288E-C719D539AB1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DA1DA1E-1E67-5A29-051C-8438263049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5F18FC5-2DD3-C9EF-C7BF-36F167EC5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60F03EC-88F4-EC8D-270C-34F4D1181910}"/>
              </a:ext>
            </a:extLst>
          </p:cNvPr>
          <p:cNvSpPr>
            <a:spLocks noGrp="1"/>
          </p:cNvSpPr>
          <p:nvPr>
            <p:ph type="dt" sz="half" idx="10"/>
          </p:nvPr>
        </p:nvSpPr>
        <p:spPr/>
        <p:txBody>
          <a:bodyPr/>
          <a:lstStyle/>
          <a:p>
            <a:fld id="{CCD0576A-07DB-3B46-AC99-97A70AE23956}" type="datetimeFigureOut">
              <a:rPr lang="en-US" smtClean="0"/>
              <a:t>4/13/2026</a:t>
            </a:fld>
            <a:endParaRPr lang="en-US"/>
          </a:p>
        </p:txBody>
      </p:sp>
      <p:sp>
        <p:nvSpPr>
          <p:cNvPr id="6" name="Footer Placeholder 5">
            <a:extLst>
              <a:ext uri="{FF2B5EF4-FFF2-40B4-BE49-F238E27FC236}">
                <a16:creationId xmlns:a16="http://schemas.microsoft.com/office/drawing/2014/main" id="{B33DC8FE-1BCB-047D-5F52-E902AC39BD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2B3D0D-1060-1C28-1F1A-231E43E411EE}"/>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3763956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D9D28-A6C4-84CC-7AD0-1AF88C70EEC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E933BF9-1D81-F7B1-6917-58E88F5D0D2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F466503-6FF8-76D4-851E-BF686B74DF52}"/>
              </a:ext>
            </a:extLst>
          </p:cNvPr>
          <p:cNvSpPr>
            <a:spLocks noGrp="1"/>
          </p:cNvSpPr>
          <p:nvPr>
            <p:ph type="dt" sz="half" idx="10"/>
          </p:nvPr>
        </p:nvSpPr>
        <p:spPr/>
        <p:txBody>
          <a:bodyPr/>
          <a:lstStyle/>
          <a:p>
            <a:fld id="{CCD0576A-07DB-3B46-AC99-97A70AE23956}" type="datetimeFigureOut">
              <a:rPr lang="en-US" smtClean="0"/>
              <a:t>4/13/2026</a:t>
            </a:fld>
            <a:endParaRPr lang="en-US"/>
          </a:p>
        </p:txBody>
      </p:sp>
      <p:sp>
        <p:nvSpPr>
          <p:cNvPr id="5" name="Footer Placeholder 4">
            <a:extLst>
              <a:ext uri="{FF2B5EF4-FFF2-40B4-BE49-F238E27FC236}">
                <a16:creationId xmlns:a16="http://schemas.microsoft.com/office/drawing/2014/main" id="{25A06448-39D6-5009-B041-CA30D47243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60FC16-7BF7-6E7E-42AB-25069EB7AC12}"/>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2411388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F52CA7-F9AD-0C1E-852C-42392B02D3C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144B219-750C-7F94-6064-31521601535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217404-C2CA-70FA-A5B4-9AE95C7F9A93}"/>
              </a:ext>
            </a:extLst>
          </p:cNvPr>
          <p:cNvSpPr>
            <a:spLocks noGrp="1"/>
          </p:cNvSpPr>
          <p:nvPr>
            <p:ph type="dt" sz="half" idx="10"/>
          </p:nvPr>
        </p:nvSpPr>
        <p:spPr/>
        <p:txBody>
          <a:bodyPr/>
          <a:lstStyle/>
          <a:p>
            <a:fld id="{CCD0576A-07DB-3B46-AC99-97A70AE23956}" type="datetimeFigureOut">
              <a:rPr lang="en-US" smtClean="0"/>
              <a:t>4/13/2026</a:t>
            </a:fld>
            <a:endParaRPr lang="en-US"/>
          </a:p>
        </p:txBody>
      </p:sp>
      <p:sp>
        <p:nvSpPr>
          <p:cNvPr id="5" name="Footer Placeholder 4">
            <a:extLst>
              <a:ext uri="{FF2B5EF4-FFF2-40B4-BE49-F238E27FC236}">
                <a16:creationId xmlns:a16="http://schemas.microsoft.com/office/drawing/2014/main" id="{2743AD08-86AD-4165-1C92-6B56C79B7A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72F7B6-7C91-353F-2D5E-37F732F3E00D}"/>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3296410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132A7A-246A-E18A-4C93-A4BA988EEF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C4919EB-94FF-60FF-BB8D-B66AF177AF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4F8F3A-267F-D219-664F-DEDAAC19EF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D0576A-07DB-3B46-AC99-97A70AE23956}" type="datetimeFigureOut">
              <a:rPr lang="en-US" smtClean="0"/>
              <a:t>4/13/2026</a:t>
            </a:fld>
            <a:endParaRPr lang="en-US"/>
          </a:p>
        </p:txBody>
      </p:sp>
      <p:sp>
        <p:nvSpPr>
          <p:cNvPr id="5" name="Footer Placeholder 4">
            <a:extLst>
              <a:ext uri="{FF2B5EF4-FFF2-40B4-BE49-F238E27FC236}">
                <a16:creationId xmlns:a16="http://schemas.microsoft.com/office/drawing/2014/main" id="{16C10F51-7255-50C1-18D0-94D395A5F0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535A5A-9156-5F50-DE6D-645C17C794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5EAFB7-D942-8C40-850B-F7A53EC532FC}" type="slidenum">
              <a:rPr lang="en-US" smtClean="0"/>
              <a:t>‹#›</a:t>
            </a:fld>
            <a:endParaRPr lang="en-US"/>
          </a:p>
        </p:txBody>
      </p:sp>
    </p:spTree>
    <p:extLst>
      <p:ext uri="{BB962C8B-B14F-4D97-AF65-F5344CB8AC3E}">
        <p14:creationId xmlns:p14="http://schemas.microsoft.com/office/powerpoint/2010/main" val="2046532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s://pandas.pydata.org/docs/" TargetMode="External"/><Relationship Id="rId3" Type="http://schemas.openxmlformats.org/officeDocument/2006/relationships/hyperlink" Target="https://tesseract-ocr.github.io/" TargetMode="External"/><Relationship Id="rId7" Type="http://schemas.openxmlformats.org/officeDocument/2006/relationships/hyperlink" Target="https://scikit-learn.org/"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react.dev/" TargetMode="External"/><Relationship Id="rId5" Type="http://schemas.openxmlformats.org/officeDocument/2006/relationships/hyperlink" Target="https://nodejs.org/en/docs/" TargetMode="External"/><Relationship Id="rId4" Type="http://schemas.openxmlformats.org/officeDocument/2006/relationships/hyperlink" Target="https://www.mongodb.com/do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5C05F-6C10-AAB8-B9A1-704086EB8325}"/>
              </a:ext>
            </a:extLst>
          </p:cNvPr>
          <p:cNvSpPr>
            <a:spLocks noGrp="1"/>
          </p:cNvSpPr>
          <p:nvPr>
            <p:ph type="ctrTitle"/>
          </p:nvPr>
        </p:nvSpPr>
        <p:spPr>
          <a:xfrm>
            <a:off x="1524000" y="1387001"/>
            <a:ext cx="9144000" cy="2717166"/>
          </a:xfrm>
        </p:spPr>
        <p:txBody>
          <a:bodyPr>
            <a:normAutofit/>
          </a:bodyPr>
          <a:lstStyle/>
          <a:p>
            <a:r>
              <a:rPr lang="en-US" sz="3300" b="1" dirty="0">
                <a:latin typeface="Times New Roman" panose="02020603050405020304" pitchFamily="18" charset="0"/>
                <a:cs typeface="Times New Roman" panose="02020603050405020304" pitchFamily="18" charset="0"/>
              </a:rPr>
              <a:t>Major Project (</a:t>
            </a:r>
            <a:r>
              <a:rPr lang="en-IN" sz="3300" dirty="0">
                <a:latin typeface="Times New Roman" pitchFamily="18" charset="0"/>
                <a:cs typeface="Times New Roman" pitchFamily="18" charset="0"/>
              </a:rPr>
              <a:t>CA301P</a:t>
            </a:r>
            <a:r>
              <a:rPr lang="en-US" sz="3300" b="1" dirty="0">
                <a:latin typeface="Times New Roman" panose="02020603050405020304" pitchFamily="18" charset="0"/>
                <a:cs typeface="Times New Roman" panose="02020603050405020304" pitchFamily="18" charset="0"/>
              </a:rPr>
              <a:t>)</a:t>
            </a:r>
            <a:br>
              <a:rPr lang="en-IN" sz="3300" b="1" dirty="0">
                <a:latin typeface="Times New Roman" panose="02020603050405020304" pitchFamily="18" charset="0"/>
                <a:cs typeface="Times New Roman" panose="02020603050405020304" pitchFamily="18" charset="0"/>
              </a:rPr>
            </a:br>
            <a:r>
              <a:rPr lang="en-IN" sz="3300" b="1" dirty="0">
                <a:latin typeface="Times New Roman" panose="02020603050405020304" pitchFamily="18" charset="0"/>
                <a:cs typeface="Times New Roman" panose="02020603050405020304" pitchFamily="18" charset="0"/>
              </a:rPr>
              <a:t>Even Semester</a:t>
            </a:r>
            <a:br>
              <a:rPr lang="en-IN" sz="3300" b="1" dirty="0">
                <a:latin typeface="Times New Roman" panose="02020603050405020304" pitchFamily="18" charset="0"/>
                <a:cs typeface="Times New Roman" panose="02020603050405020304" pitchFamily="18" charset="0"/>
              </a:rPr>
            </a:br>
            <a:r>
              <a:rPr lang="en-IN" sz="3300" b="1" dirty="0">
                <a:latin typeface="Times New Roman" panose="02020603050405020304" pitchFamily="18" charset="0"/>
                <a:cs typeface="Times New Roman" panose="02020603050405020304" pitchFamily="18" charset="0"/>
              </a:rPr>
              <a:t>Session 2025-26</a:t>
            </a:r>
            <a:br>
              <a:rPr lang="en-IN" sz="3300" b="1" dirty="0">
                <a:latin typeface="Times New Roman" panose="02020603050405020304" pitchFamily="18" charset="0"/>
                <a:cs typeface="Times New Roman" panose="02020603050405020304" pitchFamily="18" charset="0"/>
              </a:rPr>
            </a:br>
            <a:br>
              <a:rPr lang="en-IN" sz="2900" b="1" dirty="0">
                <a:latin typeface="Times New Roman" panose="02020603050405020304" pitchFamily="18" charset="0"/>
                <a:cs typeface="Times New Roman" panose="02020603050405020304" pitchFamily="18" charset="0"/>
              </a:rPr>
            </a:br>
            <a:r>
              <a:rPr lang="en-IN" sz="2900" b="1" dirty="0">
                <a:latin typeface="Times New Roman" panose="02020603050405020304" pitchFamily="18" charset="0"/>
                <a:cs typeface="Times New Roman" panose="02020603050405020304" pitchFamily="18" charset="0"/>
              </a:rPr>
              <a:t>“Finance Buddy: AI Personal Finance Manager</a:t>
            </a:r>
            <a:r>
              <a:rPr lang="en-US" sz="2900" b="1" dirty="0">
                <a:latin typeface="Times New Roman" pitchFamily="18" charset="0"/>
                <a:ea typeface="Montserrat" pitchFamily="34" charset="-122"/>
                <a:cs typeface="Times New Roman" pitchFamily="18" charset="0"/>
              </a:rPr>
              <a:t>”</a:t>
            </a:r>
            <a:endParaRPr lang="en-US" sz="35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2C24FBC-2E61-AD49-3BD0-DA7AA89F9A81}"/>
              </a:ext>
            </a:extLst>
          </p:cNvPr>
          <p:cNvSpPr>
            <a:spLocks noGrp="1"/>
          </p:cNvSpPr>
          <p:nvPr>
            <p:ph type="subTitle" idx="1"/>
          </p:nvPr>
        </p:nvSpPr>
        <p:spPr>
          <a:xfrm>
            <a:off x="382772" y="4423143"/>
            <a:ext cx="11706448" cy="1520457"/>
          </a:xfrm>
        </p:spPr>
        <p:txBody>
          <a:bodyPr>
            <a:noAutofit/>
          </a:bodyPr>
          <a:lstStyle/>
          <a:p>
            <a:pPr algn="l"/>
            <a:r>
              <a:rPr lang="en-US" sz="2200" b="1" dirty="0">
                <a:latin typeface="Times New Roman" panose="02020603050405020304" pitchFamily="18" charset="0"/>
                <a:cs typeface="Times New Roman" panose="02020603050405020304" pitchFamily="18" charset="0"/>
              </a:rPr>
              <a:t>Presented By </a:t>
            </a:r>
          </a:p>
          <a:p>
            <a:pPr algn="l"/>
            <a:r>
              <a:rPr lang="en-US" sz="1600" b="1" dirty="0" err="1">
                <a:latin typeface="Times New Roman" panose="02020603050405020304" pitchFamily="18" charset="0"/>
                <a:cs typeface="Times New Roman" panose="02020603050405020304" pitchFamily="18" charset="0"/>
              </a:rPr>
              <a:t>Gulshan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Kumari</a:t>
            </a:r>
            <a:r>
              <a:rPr lang="en-US" sz="1600" b="1" dirty="0">
                <a:latin typeface="Times New Roman" panose="02020603050405020304" pitchFamily="18" charset="0"/>
                <a:cs typeface="Times New Roman" panose="02020603050405020304" pitchFamily="18" charset="0"/>
              </a:rPr>
              <a:t>    Roll No : 202410116100078</a:t>
            </a:r>
          </a:p>
          <a:p>
            <a:pPr algn="l"/>
            <a:r>
              <a:rPr lang="en-US" sz="1600" b="1" dirty="0">
                <a:latin typeface="Times New Roman" panose="02020603050405020304" pitchFamily="18" charset="0"/>
                <a:cs typeface="Times New Roman" panose="02020603050405020304" pitchFamily="18" charset="0"/>
              </a:rPr>
              <a:t>Gargi Gupta           Roll No : 202410116100071</a:t>
            </a:r>
          </a:p>
          <a:p>
            <a:pPr algn="l"/>
            <a:r>
              <a:rPr lang="en-US" sz="1600" b="1" dirty="0" err="1">
                <a:latin typeface="Times New Roman" panose="02020603050405020304" pitchFamily="18" charset="0"/>
                <a:cs typeface="Times New Roman" panose="02020603050405020304" pitchFamily="18" charset="0"/>
              </a:rPr>
              <a:t>Gaurav</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Chauhan</a:t>
            </a:r>
            <a:r>
              <a:rPr lang="en-US" sz="1600" b="1" dirty="0">
                <a:latin typeface="Times New Roman" panose="02020603050405020304" pitchFamily="18" charset="0"/>
                <a:cs typeface="Times New Roman" panose="02020603050405020304" pitchFamily="18" charset="0"/>
              </a:rPr>
              <a:t>   Roll No : 202410116100073</a:t>
            </a:r>
          </a:p>
          <a:p>
            <a:pPr algn="l"/>
            <a:r>
              <a:rPr lang="en-US" sz="1600" b="1" dirty="0" err="1">
                <a:latin typeface="Times New Roman" panose="02020603050405020304" pitchFamily="18" charset="0"/>
                <a:cs typeface="Times New Roman" panose="02020603050405020304" pitchFamily="18" charset="0"/>
              </a:rPr>
              <a:t>Gaurav</a:t>
            </a:r>
            <a:r>
              <a:rPr lang="en-US" sz="1600" b="1" dirty="0">
                <a:latin typeface="Times New Roman" panose="02020603050405020304" pitchFamily="18" charset="0"/>
                <a:cs typeface="Times New Roman" panose="02020603050405020304" pitchFamily="18" charset="0"/>
              </a:rPr>
              <a:t> Kumar      Roll No : 202410116100074</a:t>
            </a:r>
          </a:p>
        </p:txBody>
      </p:sp>
      <p:sp>
        <p:nvSpPr>
          <p:cNvPr id="4" name="Subtitle 2">
            <a:extLst>
              <a:ext uri="{FF2B5EF4-FFF2-40B4-BE49-F238E27FC236}">
                <a16:creationId xmlns:a16="http://schemas.microsoft.com/office/drawing/2014/main" id="{C7EFE38A-2987-AEC9-33EC-1BC6CB5C10DA}"/>
              </a:ext>
            </a:extLst>
          </p:cNvPr>
          <p:cNvSpPr txBox="1">
            <a:spLocks/>
          </p:cNvSpPr>
          <p:nvPr/>
        </p:nvSpPr>
        <p:spPr>
          <a:xfrm>
            <a:off x="1524000" y="4782598"/>
            <a:ext cx="9144000" cy="76269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5" name="Subtitle 2">
            <a:extLst>
              <a:ext uri="{FF2B5EF4-FFF2-40B4-BE49-F238E27FC236}">
                <a16:creationId xmlns:a16="http://schemas.microsoft.com/office/drawing/2014/main" id="{43043289-20F1-1B73-C850-CE92562B546B}"/>
              </a:ext>
            </a:extLst>
          </p:cNvPr>
          <p:cNvSpPr txBox="1">
            <a:spLocks/>
          </p:cNvSpPr>
          <p:nvPr/>
        </p:nvSpPr>
        <p:spPr>
          <a:xfrm>
            <a:off x="9302262" y="5634038"/>
            <a:ext cx="2889738" cy="12239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endParaRPr lang="en-IN" b="1" u="sng"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9A50B94-DBEB-9815-4684-223EC27F9F0D}"/>
              </a:ext>
            </a:extLst>
          </p:cNvPr>
          <p:cNvPicPr>
            <a:picLocks noChangeAspect="1"/>
          </p:cNvPicPr>
          <p:nvPr/>
        </p:nvPicPr>
        <p:blipFill>
          <a:blip r:embed="rId2"/>
          <a:stretch>
            <a:fillRect/>
          </a:stretch>
        </p:blipFill>
        <p:spPr>
          <a:xfrm>
            <a:off x="0" y="2510"/>
            <a:ext cx="12192000" cy="1384490"/>
          </a:xfrm>
          <a:prstGeom prst="rect">
            <a:avLst/>
          </a:prstGeom>
        </p:spPr>
      </p:pic>
    </p:spTree>
    <p:extLst>
      <p:ext uri="{BB962C8B-B14F-4D97-AF65-F5344CB8AC3E}">
        <p14:creationId xmlns:p14="http://schemas.microsoft.com/office/powerpoint/2010/main" val="1493161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B72F0-7EB3-A394-ABD6-7A41EF3CE737}"/>
              </a:ext>
            </a:extLst>
          </p:cNvPr>
          <p:cNvSpPr>
            <a:spLocks noGrp="1"/>
          </p:cNvSpPr>
          <p:nvPr>
            <p:ph type="title"/>
          </p:nvPr>
        </p:nvSpPr>
        <p:spPr>
          <a:xfrm>
            <a:off x="0" y="0"/>
            <a:ext cx="12192000" cy="1267968"/>
          </a:xfrm>
          <a:solidFill>
            <a:schemeClr val="accent2">
              <a:lumMod val="40000"/>
              <a:lumOff val="60000"/>
            </a:schemeClr>
          </a:solidFill>
        </p:spPr>
        <p:txBody>
          <a:bodyPr>
            <a:normAutofit/>
          </a:bodyPr>
          <a:lstStyle/>
          <a:p>
            <a:pPr algn="ctr"/>
            <a:r>
              <a:rPr lang="en-IN" b="1" dirty="0">
                <a:latin typeface="Times New Roman" panose="02020603050405020304" pitchFamily="18" charset="0"/>
                <a:ea typeface="Tahoma" panose="020B0604030504040204" pitchFamily="34" charset="0"/>
                <a:cs typeface="Times New Roman" panose="02020603050405020304" pitchFamily="18" charset="0"/>
              </a:rPr>
              <a:t>Content</a:t>
            </a:r>
          </a:p>
        </p:txBody>
      </p:sp>
      <p:sp>
        <p:nvSpPr>
          <p:cNvPr id="5" name="Content Placeholder 4">
            <a:extLst>
              <a:ext uri="{FF2B5EF4-FFF2-40B4-BE49-F238E27FC236}">
                <a16:creationId xmlns:a16="http://schemas.microsoft.com/office/drawing/2014/main" id="{4AD30AE4-1C9D-4F26-8884-C30D15E187A7}"/>
              </a:ext>
            </a:extLst>
          </p:cNvPr>
          <p:cNvSpPr>
            <a:spLocks noGrp="1"/>
          </p:cNvSpPr>
          <p:nvPr>
            <p:ph idx="1"/>
          </p:nvPr>
        </p:nvSpPr>
        <p:spPr/>
        <p:txBody>
          <a:bodyPr>
            <a:normAutofit/>
          </a:bodyPr>
          <a:lstStyle/>
          <a:p>
            <a:pPr lvl="0">
              <a:buFont typeface="Wingdings" pitchFamily="2" charset="2"/>
              <a:buChar char="Ø"/>
              <a:tabLst>
                <a:tab pos="457200" algn="l"/>
              </a:tabLs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Introduction </a:t>
            </a:r>
          </a:p>
          <a:p>
            <a:pPr lvl="0">
              <a:buFont typeface="Wingdings" pitchFamily="2" charset="2"/>
              <a:buChar char="Ø"/>
              <a:tabLst>
                <a:tab pos="457200" algn="l"/>
              </a:tabLs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Literature Review </a:t>
            </a:r>
          </a:p>
          <a:p>
            <a:pPr lvl="0">
              <a:buFont typeface="Wingdings" pitchFamily="2" charset="2"/>
              <a:buChar char="Ø"/>
              <a:tabLst>
                <a:tab pos="457200" algn="l"/>
              </a:tabLs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Objective of the Project</a:t>
            </a:r>
          </a:p>
          <a:p>
            <a:pPr lvl="0">
              <a:buFont typeface="Wingdings" pitchFamily="2" charset="2"/>
              <a:buChar char="Ø"/>
              <a:tabLst>
                <a:tab pos="457200" algn="l"/>
              </a:tabLs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Technology</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Hardware Requirements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Font typeface="Symbol" pitchFamily="2" charset="2"/>
              <a:buChar char=""/>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Software Requirements (Language and Platforms like Frameworks etc. )</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lvl="0">
              <a:buFont typeface="Wingdings" pitchFamily="2" charset="2"/>
              <a:buChar char="Ø"/>
              <a:tabLst>
                <a:tab pos="457200" algn="l"/>
              </a:tabLs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Modules </a:t>
            </a:r>
          </a:p>
          <a:p>
            <a:pPr lvl="0">
              <a:buFont typeface="Wingdings" pitchFamily="2" charset="2"/>
              <a:buChar char="Ø"/>
              <a:tabLst>
                <a:tab pos="457200" algn="l"/>
              </a:tabLst>
            </a:pPr>
            <a:r>
              <a:rPr lang="en-IN" sz="1800" dirty="0">
                <a:latin typeface="Times New Roman" panose="02020603050405020304" pitchFamily="18" charset="0"/>
                <a:cs typeface="Times New Roman" panose="02020603050405020304" pitchFamily="18" charset="0"/>
              </a:rPr>
              <a:t>Modules Implementation Progress</a:t>
            </a:r>
            <a:endParaRPr lang="en-IN"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buFont typeface="Wingdings" pitchFamily="2" charset="2"/>
              <a:buChar char="Ø"/>
              <a:tabLst>
                <a:tab pos="457200" algn="l"/>
              </a:tabLst>
            </a:pPr>
            <a:r>
              <a:rPr lang="en-IN" sz="1800" dirty="0"/>
              <a:t>Research Outcome</a:t>
            </a: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a:buFont typeface="Wingdings" pitchFamily="2" charset="2"/>
              <a:buChar char="Ø"/>
              <a:tabLst>
                <a:tab pos="457200" algn="l"/>
              </a:tabLst>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References </a:t>
            </a:r>
          </a:p>
        </p:txBody>
      </p:sp>
    </p:spTree>
    <p:extLst>
      <p:ext uri="{BB962C8B-B14F-4D97-AF65-F5344CB8AC3E}">
        <p14:creationId xmlns:p14="http://schemas.microsoft.com/office/powerpoint/2010/main" val="4117151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6102F-978C-3EAF-61E2-60C25A98C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A5F62-65DD-AD75-A67D-7D11353DC281}"/>
              </a:ext>
            </a:extLst>
          </p:cNvPr>
          <p:cNvSpPr>
            <a:spLocks noGrp="1"/>
          </p:cNvSpPr>
          <p:nvPr>
            <p:ph type="title"/>
          </p:nvPr>
        </p:nvSpPr>
        <p:spPr>
          <a:xfrm>
            <a:off x="0" y="-3175"/>
            <a:ext cx="12192000" cy="1234567"/>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Introduction</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5417BD6D-03AD-639D-0D53-24A0683B6D63}"/>
              </a:ext>
            </a:extLst>
          </p:cNvPr>
          <p:cNvSpPr>
            <a:spLocks noGrp="1"/>
          </p:cNvSpPr>
          <p:nvPr>
            <p:ph idx="1"/>
          </p:nvPr>
        </p:nvSpPr>
        <p:spPr>
          <a:xfrm>
            <a:off x="763772" y="1573619"/>
            <a:ext cx="5332228" cy="4592711"/>
          </a:xfrm>
        </p:spPr>
        <p:txBody>
          <a:bodyPr>
            <a:normAutofit fontScale="77500" lnSpcReduction="20000"/>
          </a:bodyPr>
          <a:lstStyle/>
          <a:p>
            <a:pPr algn="just"/>
            <a:r>
              <a:rPr lang="en-US" sz="2400" dirty="0">
                <a:latin typeface="Times New Roman" panose="02020603050405020304" pitchFamily="18" charset="0"/>
                <a:cs typeface="Times New Roman" panose="02020603050405020304" pitchFamily="18" charset="0"/>
              </a:rPr>
              <a:t>In the modern digital world, people make numerous online transactions every day using UPI, cards, and mobile banking. Despite this, many individuals struggle to keep track of their expenses and manage their finances effectively. This often results in overspending, poor budgeting, and lack of savings.</a:t>
            </a:r>
          </a:p>
          <a:p>
            <a:pPr algn="just"/>
            <a:r>
              <a:rPr lang="en-US" sz="2400" b="1" dirty="0">
                <a:latin typeface="Times New Roman" panose="02020603050405020304" pitchFamily="18" charset="0"/>
                <a:cs typeface="Times New Roman" panose="02020603050405020304" pitchFamily="18" charset="0"/>
              </a:rPr>
              <a:t>Finance Buddy </a:t>
            </a:r>
            <a:r>
              <a:rPr lang="en-US" sz="2400" dirty="0">
                <a:latin typeface="Times New Roman" panose="02020603050405020304" pitchFamily="18" charset="0"/>
                <a:cs typeface="Times New Roman" panose="02020603050405020304" pitchFamily="18" charset="0"/>
              </a:rPr>
              <a:t>is an AI-powered web application designed to simplify personal finance management. The system helps users track income and expenses, analyze spending patterns through visual dashboards, set monthly budgets, and receive alerts when spending exceeds limits. It also uses Machine Learning to predict future expenses and provide smart saving suggestions.</a:t>
            </a:r>
          </a:p>
          <a:p>
            <a:pPr algn="just"/>
            <a:r>
              <a:rPr lang="en-US" sz="2400" dirty="0">
                <a:latin typeface="Times New Roman" panose="02020603050405020304" pitchFamily="18" charset="0"/>
                <a:cs typeface="Times New Roman" panose="02020603050405020304" pitchFamily="18" charset="0"/>
              </a:rPr>
              <a:t>The main goal of this project is to promote financial awareness and help users make better financial decisions through automation and data-driven insights.</a:t>
            </a:r>
          </a:p>
          <a:p>
            <a:pPr algn="just"/>
            <a:endParaRPr lang="en-US" sz="1800" dirty="0">
              <a:latin typeface="Times New Roman" panose="02020603050405020304" pitchFamily="18" charset="0"/>
              <a:cs typeface="Times New Roman" pitchFamily="18" charset="0"/>
            </a:endParaRPr>
          </a:p>
        </p:txBody>
      </p:sp>
      <p:pic>
        <p:nvPicPr>
          <p:cNvPr id="7" name="Picture 6">
            <a:extLst>
              <a:ext uri="{FF2B5EF4-FFF2-40B4-BE49-F238E27FC236}">
                <a16:creationId xmlns:a16="http://schemas.microsoft.com/office/drawing/2014/main" id="{C2B0F2BE-D89C-290A-C86A-EAC5BC5A0C64}"/>
              </a:ext>
            </a:extLst>
          </p:cNvPr>
          <p:cNvPicPr>
            <a:picLocks noChangeAspect="1"/>
          </p:cNvPicPr>
          <p:nvPr/>
        </p:nvPicPr>
        <p:blipFill>
          <a:blip r:embed="rId3"/>
          <a:stretch>
            <a:fillRect/>
          </a:stretch>
        </p:blipFill>
        <p:spPr>
          <a:xfrm>
            <a:off x="6913104" y="1709928"/>
            <a:ext cx="4133188" cy="3950208"/>
          </a:xfrm>
          <a:prstGeom prst="rect">
            <a:avLst/>
          </a:prstGeom>
        </p:spPr>
      </p:pic>
    </p:spTree>
    <p:extLst>
      <p:ext uri="{BB962C8B-B14F-4D97-AF65-F5344CB8AC3E}">
        <p14:creationId xmlns:p14="http://schemas.microsoft.com/office/powerpoint/2010/main" val="2115622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DA0FE-3324-1AC2-EBAA-076DFFF43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7C7DF6-5F84-CA0C-90EA-F70F26C4CC4A}"/>
              </a:ext>
            </a:extLst>
          </p:cNvPr>
          <p:cNvSpPr>
            <a:spLocks noGrp="1"/>
          </p:cNvSpPr>
          <p:nvPr>
            <p:ph type="title"/>
          </p:nvPr>
        </p:nvSpPr>
        <p:spPr>
          <a:xfrm>
            <a:off x="0" y="-3175"/>
            <a:ext cx="12192000" cy="1258951"/>
          </a:xfrm>
          <a:solidFill>
            <a:schemeClr val="accent2">
              <a:lumMod val="40000"/>
              <a:lumOff val="60000"/>
            </a:schemeClr>
          </a:solidFill>
        </p:spPr>
        <p:txBody>
          <a:bodyPr>
            <a:normAutofit/>
          </a:bodyPr>
          <a:lstStyle/>
          <a:p>
            <a:pPr algn="ctr"/>
            <a:r>
              <a:rPr lang="en-IN" sz="4000" b="1" kern="100" dirty="0">
                <a:effectLst/>
                <a:latin typeface="Times New Roman" panose="02020603050405020304" pitchFamily="18" charset="0"/>
                <a:ea typeface="Aptos" panose="020B0004020202020204" pitchFamily="34" charset="0"/>
                <a:cs typeface="Times New Roman" panose="02020603050405020304" pitchFamily="18" charset="0"/>
              </a:rPr>
              <a:t>LITERATURE REVIEW</a:t>
            </a:r>
            <a:endParaRPr lang="en-IN" sz="40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Rectangle 1">
            <a:extLst>
              <a:ext uri="{FF2B5EF4-FFF2-40B4-BE49-F238E27FC236}">
                <a16:creationId xmlns:a16="http://schemas.microsoft.com/office/drawing/2014/main" id="{BF60B81D-0C59-A17B-3A93-6CC7EF920D7A}"/>
              </a:ext>
            </a:extLst>
          </p:cNvPr>
          <p:cNvSpPr>
            <a:spLocks noGrp="1" noChangeArrowheads="1"/>
          </p:cNvSpPr>
          <p:nvPr>
            <p:ph idx="1"/>
          </p:nvPr>
        </p:nvSpPr>
        <p:spPr bwMode="auto">
          <a:xfrm>
            <a:off x="608645" y="1845897"/>
            <a:ext cx="5618419" cy="4503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000" dirty="0">
                <a:latin typeface="Times New Roman" panose="02020603050405020304" pitchFamily="18" charset="0"/>
                <a:cs typeface="Times New Roman" panose="02020603050405020304" pitchFamily="18" charset="0"/>
              </a:rPr>
              <a:t>Today, many mobile apps and websites help people manage their money. Apps like Mint and </a:t>
            </a:r>
            <a:r>
              <a:rPr lang="en-US" sz="2000" dirty="0" err="1">
                <a:latin typeface="Times New Roman" panose="02020603050405020304" pitchFamily="18" charset="0"/>
                <a:cs typeface="Times New Roman" panose="02020603050405020304" pitchFamily="18" charset="0"/>
              </a:rPr>
              <a:t>PocketGuard</a:t>
            </a:r>
            <a:r>
              <a:rPr lang="en-US" sz="2000" dirty="0">
                <a:latin typeface="Times New Roman" panose="02020603050405020304" pitchFamily="18" charset="0"/>
                <a:cs typeface="Times New Roman" panose="02020603050405020304" pitchFamily="18" charset="0"/>
              </a:rPr>
              <a:t> allow users to track their income and expenses and create budgets. However, most of these apps require users to enter their expenses manually.</a:t>
            </a:r>
          </a:p>
          <a:p>
            <a:pPr algn="just"/>
            <a:r>
              <a:rPr lang="en-US" sz="2000" dirty="0">
                <a:latin typeface="Times New Roman" panose="02020603050405020304" pitchFamily="18" charset="0"/>
                <a:cs typeface="Times New Roman" panose="02020603050405020304" pitchFamily="18" charset="0"/>
              </a:rPr>
              <a:t>Recent research shows that technologies like Artificial Intelligence (AI), Machine Learning (ML). Machine Learning can study past expenses and predict future spending.</a:t>
            </a:r>
          </a:p>
          <a:p>
            <a:pPr algn="just"/>
            <a:r>
              <a:rPr lang="en-US" sz="2000" dirty="0">
                <a:latin typeface="Times New Roman" panose="02020603050405020304" pitchFamily="18" charset="0"/>
                <a:cs typeface="Times New Roman" panose="02020603050405020304" pitchFamily="18" charset="0"/>
              </a:rPr>
              <a:t>But most existing systems do not provide all these features in one place. Therefore, the proposed system, </a:t>
            </a:r>
            <a:r>
              <a:rPr lang="en-US" sz="2000" b="1" dirty="0">
                <a:latin typeface="Times New Roman" panose="02020603050405020304" pitchFamily="18" charset="0"/>
                <a:cs typeface="Times New Roman" panose="02020603050405020304" pitchFamily="18" charset="0"/>
              </a:rPr>
              <a:t>Finance Buddy</a:t>
            </a:r>
            <a:r>
              <a:rPr lang="en-US" sz="2000" dirty="0">
                <a:latin typeface="Times New Roman" panose="02020603050405020304" pitchFamily="18" charset="0"/>
                <a:cs typeface="Times New Roman" panose="02020603050405020304" pitchFamily="18" charset="0"/>
              </a:rPr>
              <a:t>, combines expense tracking, spending prediction, and financial analysis in a single platform.</a:t>
            </a:r>
          </a:p>
        </p:txBody>
      </p:sp>
      <p:pic>
        <p:nvPicPr>
          <p:cNvPr id="7" name="Picture 6">
            <a:extLst>
              <a:ext uri="{FF2B5EF4-FFF2-40B4-BE49-F238E27FC236}">
                <a16:creationId xmlns:a16="http://schemas.microsoft.com/office/drawing/2014/main" id="{2715255C-4234-8B74-C869-2AE0C37D9965}"/>
              </a:ext>
            </a:extLst>
          </p:cNvPr>
          <p:cNvPicPr>
            <a:picLocks noChangeAspect="1"/>
          </p:cNvPicPr>
          <p:nvPr/>
        </p:nvPicPr>
        <p:blipFill>
          <a:blip r:embed="rId3"/>
          <a:stretch>
            <a:fillRect/>
          </a:stretch>
        </p:blipFill>
        <p:spPr>
          <a:xfrm>
            <a:off x="6577584" y="1865468"/>
            <a:ext cx="5279136" cy="3959352"/>
          </a:xfrm>
          <a:prstGeom prst="rect">
            <a:avLst/>
          </a:prstGeom>
        </p:spPr>
      </p:pic>
    </p:spTree>
    <p:extLst>
      <p:ext uri="{BB962C8B-B14F-4D97-AF65-F5344CB8AC3E}">
        <p14:creationId xmlns:p14="http://schemas.microsoft.com/office/powerpoint/2010/main" val="807820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9AADA-7FF4-FCD4-6A4B-012DAB5D62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107254-B274-C592-536F-4025C1DC32AA}"/>
              </a:ext>
            </a:extLst>
          </p:cNvPr>
          <p:cNvSpPr>
            <a:spLocks noGrp="1"/>
          </p:cNvSpPr>
          <p:nvPr>
            <p:ph type="title"/>
          </p:nvPr>
        </p:nvSpPr>
        <p:spPr>
          <a:xfrm>
            <a:off x="0" y="-3175"/>
            <a:ext cx="12192000" cy="1258951"/>
          </a:xfrm>
          <a:solidFill>
            <a:schemeClr val="accent2">
              <a:lumMod val="40000"/>
              <a:lumOff val="60000"/>
            </a:schemeClr>
          </a:solidFill>
        </p:spPr>
        <p:txBody>
          <a:bodyPr>
            <a:normAutofit/>
          </a:bodyPr>
          <a:lstStyle/>
          <a:p>
            <a:pPr algn="ctr"/>
            <a:r>
              <a:rPr lang="en-IN" b="1" dirty="0">
                <a:latin typeface="Times New Roman" panose="02020603050405020304" pitchFamily="18" charset="0"/>
                <a:ea typeface="Tahoma" panose="020B0604030504040204" pitchFamily="34" charset="0"/>
                <a:cs typeface="Times New Roman" panose="02020603050405020304" pitchFamily="18" charset="0"/>
              </a:rPr>
              <a:t>OBJECTIVE</a:t>
            </a:r>
          </a:p>
        </p:txBody>
      </p:sp>
      <p:sp>
        <p:nvSpPr>
          <p:cNvPr id="7" name="Rectangle 4">
            <a:extLst>
              <a:ext uri="{FF2B5EF4-FFF2-40B4-BE49-F238E27FC236}">
                <a16:creationId xmlns:a16="http://schemas.microsoft.com/office/drawing/2014/main" id="{9E6B7C15-82AF-71DC-510F-206494AABE44}"/>
              </a:ext>
            </a:extLst>
          </p:cNvPr>
          <p:cNvSpPr>
            <a:spLocks noGrp="1" noChangeArrowheads="1"/>
          </p:cNvSpPr>
          <p:nvPr>
            <p:ph idx="1"/>
          </p:nvPr>
        </p:nvSpPr>
        <p:spPr bwMode="auto">
          <a:xfrm>
            <a:off x="509516" y="2003598"/>
            <a:ext cx="6887980" cy="4351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1800" dirty="0">
                <a:latin typeface="Times New Roman" panose="02020603050405020304" pitchFamily="18" charset="0"/>
                <a:cs typeface="Times New Roman" panose="02020603050405020304" pitchFamily="18" charset="0"/>
              </a:rPr>
              <a:t>The main objective of </a:t>
            </a:r>
            <a:r>
              <a:rPr lang="en-US" sz="1800" b="1" dirty="0">
                <a:latin typeface="Times New Roman" panose="02020603050405020304" pitchFamily="18" charset="0"/>
                <a:cs typeface="Times New Roman" panose="02020603050405020304" pitchFamily="18" charset="0"/>
              </a:rPr>
              <a:t>Finance Buddy</a:t>
            </a:r>
            <a:r>
              <a:rPr lang="en-US" sz="1800" dirty="0">
                <a:latin typeface="Times New Roman" panose="02020603050405020304" pitchFamily="18" charset="0"/>
                <a:cs typeface="Times New Roman" panose="02020603050405020304" pitchFamily="18" charset="0"/>
              </a:rPr>
              <a:t> is to help users manage their personal finances easily and effectively using automation and AI.</a:t>
            </a:r>
          </a:p>
          <a:p>
            <a:pPr algn="just"/>
            <a:r>
              <a:rPr lang="en-US" sz="1800" b="1" dirty="0">
                <a:latin typeface="Times New Roman" panose="02020603050405020304" pitchFamily="18" charset="0"/>
                <a:cs typeface="Times New Roman" panose="02020603050405020304" pitchFamily="18" charset="0"/>
              </a:rPr>
              <a:t>To simplify expense tracking</a:t>
            </a:r>
            <a:r>
              <a:rPr lang="en-US" sz="1800" dirty="0">
                <a:latin typeface="Times New Roman" panose="02020603050405020304" pitchFamily="18" charset="0"/>
                <a:cs typeface="Times New Roman" panose="02020603050405020304" pitchFamily="18" charset="0"/>
              </a:rPr>
              <a:t> by allowing users to record income and daily expenses in one place.</a:t>
            </a:r>
          </a:p>
          <a:p>
            <a:pPr algn="just"/>
            <a:r>
              <a:rPr lang="en-US" sz="1800" b="1" dirty="0">
                <a:latin typeface="Times New Roman" panose="02020603050405020304" pitchFamily="18" charset="0"/>
                <a:cs typeface="Times New Roman" panose="02020603050405020304" pitchFamily="18" charset="0"/>
              </a:rPr>
              <a:t>To provide spending analysis</a:t>
            </a:r>
            <a:r>
              <a:rPr lang="en-US" sz="1800" dirty="0">
                <a:latin typeface="Times New Roman" panose="02020603050405020304" pitchFamily="18" charset="0"/>
                <a:cs typeface="Times New Roman" panose="02020603050405020304" pitchFamily="18" charset="0"/>
              </a:rPr>
              <a:t> using charts and dashboards so users can understand where their money is going.</a:t>
            </a:r>
          </a:p>
          <a:p>
            <a:pPr algn="just"/>
            <a:r>
              <a:rPr lang="en-US" sz="1800" b="1" dirty="0">
                <a:latin typeface="Times New Roman" panose="02020603050405020304" pitchFamily="18" charset="0"/>
                <a:cs typeface="Times New Roman" panose="02020603050405020304" pitchFamily="18" charset="0"/>
              </a:rPr>
              <a:t>To help users plan their budget</a:t>
            </a:r>
            <a:r>
              <a:rPr lang="en-US" sz="1800" dirty="0">
                <a:latin typeface="Times New Roman" panose="02020603050405020304" pitchFamily="18" charset="0"/>
                <a:cs typeface="Times New Roman" panose="02020603050405020304" pitchFamily="18" charset="0"/>
              </a:rPr>
              <a:t> and alert them when they exceed their monthly limit.</a:t>
            </a:r>
          </a:p>
          <a:p>
            <a:pPr algn="just"/>
            <a:r>
              <a:rPr lang="en-US" sz="1800" b="1" dirty="0">
                <a:latin typeface="Times New Roman" panose="02020603050405020304" pitchFamily="18" charset="0"/>
                <a:cs typeface="Times New Roman" panose="02020603050405020304" pitchFamily="18" charset="0"/>
              </a:rPr>
              <a:t>To predict future expenses</a:t>
            </a:r>
            <a:r>
              <a:rPr lang="en-US" sz="1800" dirty="0">
                <a:latin typeface="Times New Roman" panose="02020603050405020304" pitchFamily="18" charset="0"/>
                <a:cs typeface="Times New Roman" panose="02020603050405020304" pitchFamily="18" charset="0"/>
              </a:rPr>
              <a:t> using Machine Learning based on past spending data.</a:t>
            </a:r>
          </a:p>
          <a:p>
            <a:pPr algn="just"/>
            <a:r>
              <a:rPr lang="en-US" sz="1800" b="1" dirty="0">
                <a:latin typeface="Times New Roman" panose="02020603050405020304" pitchFamily="18" charset="0"/>
                <a:cs typeface="Times New Roman" panose="02020603050405020304" pitchFamily="18" charset="0"/>
              </a:rPr>
              <a:t>To provide smart saving suggestions</a:t>
            </a:r>
            <a:r>
              <a:rPr lang="en-US" sz="1800" dirty="0">
                <a:latin typeface="Times New Roman" panose="02020603050405020304" pitchFamily="18" charset="0"/>
                <a:cs typeface="Times New Roman" panose="02020603050405020304" pitchFamily="18" charset="0"/>
              </a:rPr>
              <a:t> and generate a financial health score.</a:t>
            </a:r>
          </a:p>
          <a:p>
            <a:pPr algn="just"/>
            <a:r>
              <a:rPr lang="en-US" sz="1800" b="1" dirty="0">
                <a:latin typeface="Times New Roman" panose="02020603050405020304" pitchFamily="18" charset="0"/>
                <a:cs typeface="Times New Roman" panose="02020603050405020304" pitchFamily="18" charset="0"/>
              </a:rPr>
              <a:t>To promote better financial awareness</a:t>
            </a:r>
            <a:r>
              <a:rPr lang="en-US" sz="1800" dirty="0">
                <a:latin typeface="Times New Roman" panose="02020603050405020304" pitchFamily="18" charset="0"/>
                <a:cs typeface="Times New Roman" panose="02020603050405020304" pitchFamily="18" charset="0"/>
              </a:rPr>
              <a:t> and improve money management habits.</a:t>
            </a:r>
          </a:p>
        </p:txBody>
      </p:sp>
      <p:pic>
        <p:nvPicPr>
          <p:cNvPr id="6" name="Picture 5">
            <a:extLst>
              <a:ext uri="{FF2B5EF4-FFF2-40B4-BE49-F238E27FC236}">
                <a16:creationId xmlns:a16="http://schemas.microsoft.com/office/drawing/2014/main" id="{89EAB636-6B8B-0824-BFE7-D792857908D2}"/>
              </a:ext>
            </a:extLst>
          </p:cNvPr>
          <p:cNvPicPr>
            <a:picLocks noChangeAspect="1"/>
          </p:cNvPicPr>
          <p:nvPr/>
        </p:nvPicPr>
        <p:blipFill>
          <a:blip r:embed="rId3"/>
          <a:stretch>
            <a:fillRect/>
          </a:stretch>
        </p:blipFill>
        <p:spPr>
          <a:xfrm>
            <a:off x="7521836" y="2240280"/>
            <a:ext cx="4343528" cy="3528118"/>
          </a:xfrm>
          <a:prstGeom prst="rect">
            <a:avLst/>
          </a:prstGeom>
        </p:spPr>
      </p:pic>
    </p:spTree>
    <p:extLst>
      <p:ext uri="{BB962C8B-B14F-4D97-AF65-F5344CB8AC3E}">
        <p14:creationId xmlns:p14="http://schemas.microsoft.com/office/powerpoint/2010/main" val="2335919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9AADA-7FF4-FCD4-6A4B-012DAB5D62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107254-B274-C592-536F-4025C1DC32AA}"/>
              </a:ext>
            </a:extLst>
          </p:cNvPr>
          <p:cNvSpPr>
            <a:spLocks noGrp="1"/>
          </p:cNvSpPr>
          <p:nvPr>
            <p:ph type="title"/>
          </p:nvPr>
        </p:nvSpPr>
        <p:spPr>
          <a:xfrm>
            <a:off x="0" y="0"/>
            <a:ext cx="12192000" cy="1244009"/>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Technology (Hardware Requirements)</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A6AAE4A4-CE61-7351-07DD-D94DCFBC67C0}"/>
              </a:ext>
            </a:extLst>
          </p:cNvPr>
          <p:cNvSpPr>
            <a:spLocks noGrp="1"/>
          </p:cNvSpPr>
          <p:nvPr>
            <p:ph sz="half" idx="2"/>
          </p:nvPr>
        </p:nvSpPr>
        <p:spPr>
          <a:xfrm>
            <a:off x="821410" y="1842450"/>
            <a:ext cx="4514865" cy="7394540"/>
          </a:xfrm>
        </p:spPr>
        <p:txBody>
          <a:bodyPr>
            <a:noAutofit/>
          </a:bodyPr>
          <a:lstStyle/>
          <a:p>
            <a:r>
              <a:rPr lang="en-US" sz="2000" b="1" dirty="0">
                <a:latin typeface="Times New Roman" panose="02020603050405020304" pitchFamily="18" charset="0"/>
                <a:cs typeface="Times New Roman" panose="02020603050405020304" pitchFamily="18" charset="0"/>
              </a:rPr>
              <a:t>For Development</a:t>
            </a:r>
          </a:p>
          <a:p>
            <a:r>
              <a:rPr lang="en-US" sz="2000" b="1" dirty="0">
                <a:latin typeface="Times New Roman" panose="02020603050405020304" pitchFamily="18" charset="0"/>
                <a:cs typeface="Times New Roman" panose="02020603050405020304" pitchFamily="18" charset="0"/>
              </a:rPr>
              <a:t>Processor:</a:t>
            </a:r>
            <a:r>
              <a:rPr lang="en-US" sz="2000" dirty="0">
                <a:latin typeface="Times New Roman" panose="02020603050405020304" pitchFamily="18" charset="0"/>
                <a:cs typeface="Times New Roman" panose="02020603050405020304" pitchFamily="18" charset="0"/>
              </a:rPr>
              <a:t> Intel i3 / Ryzen 3 or higher (i5 recommended)</a:t>
            </a:r>
          </a:p>
          <a:p>
            <a:r>
              <a:rPr lang="en-US" sz="2000" b="1" dirty="0">
                <a:latin typeface="Times New Roman" panose="02020603050405020304" pitchFamily="18" charset="0"/>
                <a:cs typeface="Times New Roman" panose="02020603050405020304" pitchFamily="18" charset="0"/>
              </a:rPr>
              <a:t>RAM:</a:t>
            </a:r>
            <a:r>
              <a:rPr lang="en-US" sz="2000" dirty="0">
                <a:latin typeface="Times New Roman" panose="02020603050405020304" pitchFamily="18" charset="0"/>
                <a:cs typeface="Times New Roman" panose="02020603050405020304" pitchFamily="18" charset="0"/>
              </a:rPr>
              <a:t> Minimum 4 GB (8 GB recommended)</a:t>
            </a:r>
          </a:p>
          <a:p>
            <a:r>
              <a:rPr lang="en-US" sz="2000" b="1" dirty="0">
                <a:latin typeface="Times New Roman" panose="02020603050405020304" pitchFamily="18" charset="0"/>
                <a:cs typeface="Times New Roman" panose="02020603050405020304" pitchFamily="18" charset="0"/>
              </a:rPr>
              <a:t>Storage:</a:t>
            </a:r>
            <a:r>
              <a:rPr lang="en-US" sz="2000" dirty="0">
                <a:latin typeface="Times New Roman" panose="02020603050405020304" pitchFamily="18" charset="0"/>
                <a:cs typeface="Times New Roman" panose="02020603050405020304" pitchFamily="18" charset="0"/>
              </a:rPr>
              <a:t> At least 20 GB free space (SSD preferred)</a:t>
            </a:r>
          </a:p>
          <a:p>
            <a:r>
              <a:rPr lang="en-US" sz="2000" b="1" dirty="0">
                <a:latin typeface="Times New Roman" panose="02020603050405020304" pitchFamily="18" charset="0"/>
                <a:cs typeface="Times New Roman" panose="02020603050405020304" pitchFamily="18" charset="0"/>
              </a:rPr>
              <a:t>Display:</a:t>
            </a:r>
            <a:r>
              <a:rPr lang="en-US" sz="2000" dirty="0">
                <a:latin typeface="Times New Roman" panose="02020603050405020304" pitchFamily="18" charset="0"/>
                <a:cs typeface="Times New Roman" panose="02020603050405020304" pitchFamily="18" charset="0"/>
              </a:rPr>
              <a:t> 1366 × 768 resolution or higher</a:t>
            </a:r>
          </a:p>
          <a:p>
            <a:r>
              <a:rPr lang="en-US" sz="2000" b="1" dirty="0">
                <a:latin typeface="Times New Roman" panose="02020603050405020304" pitchFamily="18" charset="0"/>
                <a:cs typeface="Times New Roman" panose="02020603050405020304" pitchFamily="18" charset="0"/>
              </a:rPr>
              <a:t>Internet:</a:t>
            </a:r>
            <a:r>
              <a:rPr lang="en-US" sz="2000" dirty="0">
                <a:latin typeface="Times New Roman" panose="02020603050405020304" pitchFamily="18" charset="0"/>
                <a:cs typeface="Times New Roman" panose="02020603050405020304" pitchFamily="18" charset="0"/>
              </a:rPr>
              <a:t> Required for development and testing</a:t>
            </a:r>
          </a:p>
          <a:p>
            <a:endParaRPr lang="en-IN" sz="1400"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20DB355D-37B0-B3E7-64B7-6450D86A33C9}"/>
              </a:ext>
            </a:extLst>
          </p:cNvPr>
          <p:cNvSpPr>
            <a:spLocks noGrp="1" noChangeArrowheads="1"/>
          </p:cNvSpPr>
          <p:nvPr>
            <p:ph sz="quarter" idx="4"/>
          </p:nvPr>
        </p:nvSpPr>
        <p:spPr bwMode="auto">
          <a:xfrm>
            <a:off x="6209654" y="2092737"/>
            <a:ext cx="5660410" cy="2672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b="1" dirty="0">
                <a:latin typeface="Times New Roman" panose="02020603050405020304" pitchFamily="18" charset="0"/>
                <a:cs typeface="Times New Roman" panose="02020603050405020304" pitchFamily="18" charset="0"/>
              </a:rPr>
              <a:t>For End Users</a:t>
            </a:r>
          </a:p>
          <a:p>
            <a:r>
              <a:rPr lang="en-IN" sz="2000" dirty="0">
                <a:latin typeface="Times New Roman" panose="02020603050405020304" pitchFamily="18" charset="0"/>
                <a:cs typeface="Times New Roman" panose="02020603050405020304" pitchFamily="18" charset="0"/>
              </a:rPr>
              <a:t>Laptop, desktop, tablet, or smartphone</a:t>
            </a:r>
          </a:p>
          <a:p>
            <a:r>
              <a:rPr lang="en-IN" sz="2000" dirty="0">
                <a:latin typeface="Times New Roman" panose="02020603050405020304" pitchFamily="18" charset="0"/>
                <a:cs typeface="Times New Roman" panose="02020603050405020304" pitchFamily="18" charset="0"/>
              </a:rPr>
              <a:t>Modern web browser (Chrome, Edge, Firefox)</a:t>
            </a:r>
          </a:p>
          <a:p>
            <a:r>
              <a:rPr lang="en-IN" sz="2000" dirty="0">
                <a:latin typeface="Times New Roman" panose="02020603050405020304" pitchFamily="18" charset="0"/>
                <a:cs typeface="Times New Roman" panose="02020603050405020304" pitchFamily="18" charset="0"/>
              </a:rPr>
              <a:t>Stable internet connection</a:t>
            </a:r>
          </a:p>
          <a:p>
            <a:r>
              <a:rPr lang="en-IN" sz="2000" b="1" dirty="0">
                <a:latin typeface="Times New Roman" panose="02020603050405020304" pitchFamily="18" charset="0"/>
                <a:cs typeface="Times New Roman" panose="02020603050405020304" pitchFamily="18" charset="0"/>
              </a:rPr>
              <a:t>Optional Hardware</a:t>
            </a:r>
          </a:p>
          <a:p>
            <a:r>
              <a:rPr lang="en-IN" sz="2000" dirty="0">
                <a:latin typeface="Times New Roman" panose="02020603050405020304" pitchFamily="18" charset="0"/>
                <a:cs typeface="Times New Roman" panose="02020603050405020304" pitchFamily="18" charset="0"/>
              </a:rPr>
              <a:t>Smartphone camera (for capturing bill images for OCR)</a:t>
            </a:r>
          </a:p>
        </p:txBody>
      </p:sp>
    </p:spTree>
    <p:extLst>
      <p:ext uri="{BB962C8B-B14F-4D97-AF65-F5344CB8AC3E}">
        <p14:creationId xmlns:p14="http://schemas.microsoft.com/office/powerpoint/2010/main" val="2664996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5C719-192D-C070-FBB9-9E0D0C58C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270B73-EB03-9222-F7E5-B44DDD409D90}"/>
              </a:ext>
            </a:extLst>
          </p:cNvPr>
          <p:cNvSpPr>
            <a:spLocks noGrp="1"/>
          </p:cNvSpPr>
          <p:nvPr>
            <p:ph type="title"/>
          </p:nvPr>
        </p:nvSpPr>
        <p:spPr>
          <a:xfrm>
            <a:off x="0" y="0"/>
            <a:ext cx="12192000" cy="1339702"/>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Technology (Software Requirements)</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Rectangle 1">
            <a:extLst>
              <a:ext uri="{FF2B5EF4-FFF2-40B4-BE49-F238E27FC236}">
                <a16:creationId xmlns:a16="http://schemas.microsoft.com/office/drawing/2014/main" id="{3E1D902A-9345-DAD3-4638-E0692385D04B}"/>
              </a:ext>
            </a:extLst>
          </p:cNvPr>
          <p:cNvSpPr>
            <a:spLocks noGrp="1" noChangeArrowheads="1"/>
          </p:cNvSpPr>
          <p:nvPr>
            <p:ph sz="half" idx="2"/>
          </p:nvPr>
        </p:nvSpPr>
        <p:spPr bwMode="auto">
          <a:xfrm>
            <a:off x="844019" y="2112142"/>
            <a:ext cx="4837999" cy="388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b="1" dirty="0">
                <a:latin typeface="Times New Roman" panose="02020603050405020304" pitchFamily="18" charset="0"/>
                <a:cs typeface="Times New Roman" panose="02020603050405020304" pitchFamily="18" charset="0"/>
              </a:rPr>
              <a:t>Frontend Technologies</a:t>
            </a:r>
          </a:p>
          <a:p>
            <a:r>
              <a:rPr lang="en-IN" sz="2000" dirty="0">
                <a:latin typeface="Times New Roman" panose="02020603050405020304" pitchFamily="18" charset="0"/>
                <a:cs typeface="Times New Roman" panose="02020603050405020304" pitchFamily="18" charset="0"/>
              </a:rPr>
              <a:t>HTML</a:t>
            </a:r>
          </a:p>
          <a:p>
            <a:r>
              <a:rPr lang="en-IN" sz="2000" dirty="0">
                <a:latin typeface="Times New Roman" panose="02020603050405020304" pitchFamily="18" charset="0"/>
                <a:cs typeface="Times New Roman" panose="02020603050405020304" pitchFamily="18" charset="0"/>
              </a:rPr>
              <a:t>CSS</a:t>
            </a:r>
          </a:p>
          <a:p>
            <a:r>
              <a:rPr lang="en-IN" sz="2000" dirty="0">
                <a:latin typeface="Times New Roman" panose="02020603050405020304" pitchFamily="18" charset="0"/>
                <a:cs typeface="Times New Roman" panose="02020603050405020304" pitchFamily="18" charset="0"/>
              </a:rPr>
              <a:t>JavaScript</a:t>
            </a:r>
          </a:p>
          <a:p>
            <a:r>
              <a:rPr lang="en-IN" sz="2000" dirty="0">
                <a:latin typeface="Times New Roman" panose="02020603050405020304" pitchFamily="18" charset="0"/>
                <a:cs typeface="Times New Roman" panose="02020603050405020304" pitchFamily="18" charset="0"/>
              </a:rPr>
              <a:t>React.js</a:t>
            </a:r>
          </a:p>
          <a:p>
            <a:r>
              <a:rPr lang="en-IN" sz="2000" b="1" dirty="0">
                <a:latin typeface="Times New Roman" panose="02020603050405020304" pitchFamily="18" charset="0"/>
                <a:cs typeface="Times New Roman" panose="02020603050405020304" pitchFamily="18" charset="0"/>
              </a:rPr>
              <a:t>Backend Technologies</a:t>
            </a:r>
          </a:p>
          <a:p>
            <a:r>
              <a:rPr lang="en-IN" sz="2000" dirty="0">
                <a:latin typeface="Times New Roman" panose="02020603050405020304" pitchFamily="18" charset="0"/>
                <a:cs typeface="Times New Roman" panose="02020603050405020304" pitchFamily="18" charset="0"/>
              </a:rPr>
              <a:t>Node.js</a:t>
            </a:r>
          </a:p>
          <a:p>
            <a:r>
              <a:rPr lang="en-IN" sz="2000" dirty="0">
                <a:latin typeface="Times New Roman" panose="02020603050405020304" pitchFamily="18" charset="0"/>
                <a:cs typeface="Times New Roman" panose="02020603050405020304" pitchFamily="18" charset="0"/>
              </a:rPr>
              <a:t>Express.js</a:t>
            </a:r>
          </a:p>
          <a:p>
            <a:r>
              <a:rPr lang="en-IN" sz="2000" b="1" dirty="0">
                <a:latin typeface="Times New Roman" panose="02020603050405020304" pitchFamily="18" charset="0"/>
                <a:cs typeface="Times New Roman" panose="02020603050405020304" pitchFamily="18" charset="0"/>
              </a:rPr>
              <a:t>Database</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Supabase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659796D5-8921-7F4E-4692-6498EEAB519A}"/>
              </a:ext>
            </a:extLst>
          </p:cNvPr>
          <p:cNvSpPr>
            <a:spLocks noGrp="1" noChangeArrowheads="1"/>
          </p:cNvSpPr>
          <p:nvPr>
            <p:ph sz="quarter" idx="4"/>
          </p:nvPr>
        </p:nvSpPr>
        <p:spPr bwMode="auto">
          <a:xfrm>
            <a:off x="6807999" y="2468433"/>
            <a:ext cx="5117911" cy="3206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b="1" dirty="0">
                <a:latin typeface="Times New Roman" panose="02020603050405020304" pitchFamily="18" charset="0"/>
                <a:cs typeface="Times New Roman" panose="02020603050405020304" pitchFamily="18" charset="0"/>
              </a:rPr>
              <a:t>Artificial Intelligence / Machine Learning</a:t>
            </a:r>
          </a:p>
          <a:p>
            <a:r>
              <a:rPr lang="en-IN" sz="2000" dirty="0">
                <a:latin typeface="Times New Roman" panose="02020603050405020304" pitchFamily="18" charset="0"/>
                <a:cs typeface="Times New Roman" panose="02020603050405020304" pitchFamily="18" charset="0"/>
              </a:rPr>
              <a:t>Python</a:t>
            </a:r>
          </a:p>
          <a:p>
            <a:r>
              <a:rPr lang="en-IN" sz="2000" dirty="0">
                <a:latin typeface="Times New Roman" panose="02020603050405020304" pitchFamily="18" charset="0"/>
                <a:cs typeface="Times New Roman" panose="02020603050405020304" pitchFamily="18" charset="0"/>
              </a:rPr>
              <a:t>Pandas</a:t>
            </a:r>
          </a:p>
          <a:p>
            <a:r>
              <a:rPr lang="en-IN" sz="2000" dirty="0">
                <a:latin typeface="Times New Roman" panose="02020603050405020304" pitchFamily="18" charset="0"/>
                <a:cs typeface="Times New Roman" panose="02020603050405020304" pitchFamily="18" charset="0"/>
              </a:rPr>
              <a:t>Scikit-learn</a:t>
            </a:r>
          </a:p>
          <a:p>
            <a:r>
              <a:rPr lang="en-IN" sz="2000" b="1" dirty="0">
                <a:latin typeface="Times New Roman" panose="02020603050405020304" pitchFamily="18" charset="0"/>
                <a:cs typeface="Times New Roman" panose="02020603050405020304" pitchFamily="18" charset="0"/>
              </a:rPr>
              <a:t>Development Tools</a:t>
            </a:r>
          </a:p>
          <a:p>
            <a:r>
              <a:rPr lang="en-IN" sz="2000" dirty="0">
                <a:latin typeface="Times New Roman" panose="02020603050405020304" pitchFamily="18" charset="0"/>
                <a:cs typeface="Times New Roman" panose="02020603050405020304" pitchFamily="18" charset="0"/>
              </a:rPr>
              <a:t>Visual Studio Code</a:t>
            </a:r>
          </a:p>
          <a:p>
            <a:r>
              <a:rPr lang="en-IN" sz="2000" dirty="0">
                <a:latin typeface="Times New Roman" panose="02020603050405020304" pitchFamily="18" charset="0"/>
                <a:cs typeface="Times New Roman" panose="02020603050405020304" pitchFamily="18" charset="0"/>
              </a:rPr>
              <a:t>Postman (for API testing)</a:t>
            </a:r>
          </a:p>
          <a:p>
            <a:r>
              <a:rPr lang="en-IN" sz="2000" dirty="0">
                <a:latin typeface="Times New Roman" panose="02020603050405020304" pitchFamily="18" charset="0"/>
                <a:cs typeface="Times New Roman" panose="02020603050405020304" pitchFamily="18" charset="0"/>
              </a:rPr>
              <a:t>Git &amp; GitHub (version control)</a:t>
            </a:r>
          </a:p>
        </p:txBody>
      </p:sp>
    </p:spTree>
    <p:extLst>
      <p:ext uri="{BB962C8B-B14F-4D97-AF65-F5344CB8AC3E}">
        <p14:creationId xmlns:p14="http://schemas.microsoft.com/office/powerpoint/2010/main" val="1514727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F15C5-633A-19D9-26D0-5F9DB477D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B80E5-FC90-50B2-5F63-C651AC028B08}"/>
              </a:ext>
            </a:extLst>
          </p:cNvPr>
          <p:cNvSpPr>
            <a:spLocks noGrp="1"/>
          </p:cNvSpPr>
          <p:nvPr>
            <p:ph type="title"/>
          </p:nvPr>
        </p:nvSpPr>
        <p:spPr>
          <a:xfrm>
            <a:off x="0" y="0"/>
            <a:ext cx="12192000" cy="1233377"/>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Modules</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Text Placeholder 2"/>
          <p:cNvSpPr>
            <a:spLocks noGrp="1"/>
          </p:cNvSpPr>
          <p:nvPr>
            <p:ph type="body" idx="1"/>
          </p:nvPr>
        </p:nvSpPr>
        <p:spPr>
          <a:xfrm>
            <a:off x="839788" y="1594884"/>
            <a:ext cx="5157787" cy="1095153"/>
          </a:xfrm>
        </p:spPr>
        <p:txBody>
          <a:bodyPr>
            <a:normAutofit/>
          </a:bodyPr>
          <a:lstStyle/>
          <a:p>
            <a:endParaRPr lang="en-US" dirty="0"/>
          </a:p>
          <a:p>
            <a:endParaRPr lang="en-US" dirty="0"/>
          </a:p>
          <a:p>
            <a:endParaRPr lang="en-US" dirty="0"/>
          </a:p>
          <a:p>
            <a:endParaRPr lang="en-IN" dirty="0"/>
          </a:p>
        </p:txBody>
      </p:sp>
      <p:sp>
        <p:nvSpPr>
          <p:cNvPr id="5" name="Content Placeholder 4">
            <a:extLst>
              <a:ext uri="{FF2B5EF4-FFF2-40B4-BE49-F238E27FC236}">
                <a16:creationId xmlns:a16="http://schemas.microsoft.com/office/drawing/2014/main" id="{D632FF72-3A95-498C-753E-27CA2AED6BE5}"/>
              </a:ext>
            </a:extLst>
          </p:cNvPr>
          <p:cNvSpPr>
            <a:spLocks noGrp="1"/>
          </p:cNvSpPr>
          <p:nvPr>
            <p:ph sz="half" idx="2"/>
          </p:nvPr>
        </p:nvSpPr>
        <p:spPr>
          <a:xfrm>
            <a:off x="814387" y="1928952"/>
            <a:ext cx="4770580" cy="5505120"/>
          </a:xfrm>
        </p:spPr>
        <p:txBody>
          <a:bodyPr>
            <a:noAutofit/>
          </a:bodyPr>
          <a:lstStyle/>
          <a:p>
            <a:r>
              <a:rPr lang="en-US" sz="2000" b="1" dirty="0">
                <a:latin typeface="Times New Roman" panose="02020603050405020304" pitchFamily="18" charset="0"/>
                <a:cs typeface="Times New Roman" panose="02020603050405020304" pitchFamily="18" charset="0"/>
              </a:rPr>
              <a:t>1. User Authentication Module: </a:t>
            </a:r>
            <a:r>
              <a:rPr lang="en-US" sz="2000" dirty="0">
                <a:latin typeface="Times New Roman" panose="02020603050405020304" pitchFamily="18" charset="0"/>
                <a:cs typeface="Times New Roman" panose="02020603050405020304" pitchFamily="18" charset="0"/>
              </a:rPr>
              <a:t>Handles user registration, login, and secure access to the system.</a:t>
            </a:r>
          </a:p>
          <a:p>
            <a:r>
              <a:rPr lang="en-US" sz="2000" b="1" dirty="0">
                <a:latin typeface="Times New Roman" panose="02020603050405020304" pitchFamily="18" charset="0"/>
                <a:cs typeface="Times New Roman" panose="02020603050405020304" pitchFamily="18" charset="0"/>
              </a:rPr>
              <a:t>2. Income &amp; Expense Management Module: </a:t>
            </a:r>
            <a:r>
              <a:rPr lang="en-US" sz="2000" dirty="0">
                <a:latin typeface="Times New Roman" panose="02020603050405020304" pitchFamily="18" charset="0"/>
                <a:cs typeface="Times New Roman" panose="02020603050405020304" pitchFamily="18" charset="0"/>
              </a:rPr>
              <a:t>Allows users to add, edit, delete, and categorize income and expenses.</a:t>
            </a:r>
          </a:p>
          <a:p>
            <a:r>
              <a:rPr lang="en-US" sz="2000" b="1" dirty="0">
                <a:latin typeface="Times New Roman" panose="02020603050405020304" pitchFamily="18" charset="0"/>
                <a:cs typeface="Times New Roman" panose="02020603050405020304" pitchFamily="18" charset="0"/>
              </a:rPr>
              <a:t>3. Dashboard &amp; Analytics Module:</a:t>
            </a:r>
          </a:p>
          <a:p>
            <a:pPr marL="0" indent="0">
              <a:buNone/>
            </a:pPr>
            <a:r>
              <a:rPr lang="en-US" sz="2000" dirty="0">
                <a:latin typeface="Times New Roman" panose="02020603050405020304" pitchFamily="18" charset="0"/>
                <a:cs typeface="Times New Roman" panose="02020603050405020304" pitchFamily="18" charset="0"/>
              </a:rPr>
              <a:t>Displays spending insights using charts  and graphs.</a:t>
            </a:r>
          </a:p>
          <a:p>
            <a:endParaRPr lang="en-US" sz="20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sz="quarter" idx="4"/>
          </p:nvPr>
        </p:nvSpPr>
        <p:spPr>
          <a:xfrm>
            <a:off x="6716762" y="1928952"/>
            <a:ext cx="5183188" cy="3684588"/>
          </a:xfrm>
        </p:spPr>
        <p:txBody>
          <a:bodyPr>
            <a:noAutofit/>
          </a:bodyPr>
          <a:lstStyle/>
          <a:p>
            <a:r>
              <a:rPr lang="en-US" sz="2000" b="1" dirty="0">
                <a:latin typeface="Times New Roman" panose="02020603050405020304" pitchFamily="18" charset="0"/>
                <a:cs typeface="Times New Roman" panose="02020603050405020304" pitchFamily="18" charset="0"/>
              </a:rPr>
              <a:t>4. Budget Planner Module: </a:t>
            </a:r>
            <a:r>
              <a:rPr lang="en-US" sz="2000" dirty="0">
                <a:latin typeface="Times New Roman" panose="02020603050405020304" pitchFamily="18" charset="0"/>
                <a:cs typeface="Times New Roman" panose="02020603050405020304" pitchFamily="18" charset="0"/>
              </a:rPr>
              <a:t>Allows users to set monthly budgets and receive alerts when limits are exceeded.</a:t>
            </a:r>
          </a:p>
          <a:p>
            <a:r>
              <a:rPr lang="en-US" sz="2000" b="1" dirty="0">
                <a:latin typeface="Times New Roman" panose="02020603050405020304" pitchFamily="18" charset="0"/>
                <a:cs typeface="Times New Roman" panose="02020603050405020304" pitchFamily="18" charset="0"/>
              </a:rPr>
              <a:t>5. Expense Prediction Module: </a:t>
            </a:r>
            <a:r>
              <a:rPr lang="en-US" sz="2000" dirty="0">
                <a:latin typeface="Times New Roman" panose="02020603050405020304" pitchFamily="18" charset="0"/>
                <a:cs typeface="Times New Roman" panose="02020603050405020304" pitchFamily="18" charset="0"/>
              </a:rPr>
              <a:t>Uses Machine Learning to predict future expenses.</a:t>
            </a:r>
          </a:p>
          <a:p>
            <a:r>
              <a:rPr lang="en-US" sz="2000" b="1" dirty="0">
                <a:latin typeface="Times New Roman" panose="02020603050405020304" pitchFamily="18" charset="0"/>
                <a:cs typeface="Times New Roman" panose="02020603050405020304" pitchFamily="18" charset="0"/>
              </a:rPr>
              <a:t>6. Financial Health Score Module: </a:t>
            </a:r>
            <a:r>
              <a:rPr lang="en-US" sz="2000" dirty="0">
                <a:latin typeface="Times New Roman" panose="02020603050405020304" pitchFamily="18" charset="0"/>
                <a:cs typeface="Times New Roman" panose="02020603050405020304" pitchFamily="18" charset="0"/>
              </a:rPr>
              <a:t>Generates a score and provides saving suggestions based on spending behavior.</a:t>
            </a:r>
          </a:p>
        </p:txBody>
      </p:sp>
    </p:spTree>
    <p:extLst>
      <p:ext uri="{BB962C8B-B14F-4D97-AF65-F5344CB8AC3E}">
        <p14:creationId xmlns:p14="http://schemas.microsoft.com/office/powerpoint/2010/main" val="3998786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D34DB-25C5-ADD3-CDFA-B1B0852BAF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31CC37-D043-130F-E4E6-184C71A56FB0}"/>
              </a:ext>
            </a:extLst>
          </p:cNvPr>
          <p:cNvSpPr>
            <a:spLocks noGrp="1"/>
          </p:cNvSpPr>
          <p:nvPr>
            <p:ph type="title"/>
          </p:nvPr>
        </p:nvSpPr>
        <p:spPr>
          <a:xfrm>
            <a:off x="0" y="-118042"/>
            <a:ext cx="12192000" cy="1297171"/>
          </a:xfrm>
          <a:solidFill>
            <a:schemeClr val="accent2">
              <a:lumMod val="40000"/>
              <a:lumOff val="60000"/>
            </a:schemeClr>
          </a:solidFill>
        </p:spPr>
        <p:txBody>
          <a:bodyPr>
            <a:normAutofit/>
          </a:bodyPr>
          <a:lstStyle/>
          <a:p>
            <a:pPr algn="ctr"/>
            <a:r>
              <a:rPr lang="en-IN" sz="4000" b="1" dirty="0"/>
              <a:t>  MODULES IMPLEMENTATION PROGRESS</a:t>
            </a:r>
          </a:p>
        </p:txBody>
      </p:sp>
      <p:sp>
        <p:nvSpPr>
          <p:cNvPr id="5" name="Rectangle 1">
            <a:extLst>
              <a:ext uri="{FF2B5EF4-FFF2-40B4-BE49-F238E27FC236}">
                <a16:creationId xmlns:a16="http://schemas.microsoft.com/office/drawing/2014/main" id="{7086382C-17F0-E754-3D37-3399961B2D16}"/>
              </a:ext>
            </a:extLst>
          </p:cNvPr>
          <p:cNvSpPr>
            <a:spLocks noGrp="1" noChangeArrowheads="1"/>
          </p:cNvSpPr>
          <p:nvPr>
            <p:ph sz="half" idx="1"/>
          </p:nvPr>
        </p:nvSpPr>
        <p:spPr bwMode="auto">
          <a:xfrm>
            <a:off x="760709" y="1802398"/>
            <a:ext cx="5064457"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000" b="1" dirty="0">
                <a:latin typeface="Times New Roman" panose="02020603050405020304" pitchFamily="18" charset="0"/>
                <a:cs typeface="Times New Roman" panose="02020603050405020304" pitchFamily="18" charset="0"/>
              </a:rPr>
              <a:t>1. Project Setup</a:t>
            </a:r>
          </a:p>
          <a:p>
            <a:pPr marL="0" indent="0" algn="just">
              <a:buNone/>
            </a:pPr>
            <a:r>
              <a:rPr lang="en-US" sz="2000" dirty="0">
                <a:latin typeface="Times New Roman" panose="02020603050405020304" pitchFamily="18" charset="0"/>
                <a:cs typeface="Times New Roman" panose="02020603050405020304" pitchFamily="18" charset="0"/>
              </a:rPr>
              <a:t>Development environment configured using Node.js, React, and MongoDB.</a:t>
            </a:r>
          </a:p>
          <a:p>
            <a:pPr marL="0" indent="0" algn="just">
              <a:buNone/>
            </a:pPr>
            <a:r>
              <a:rPr lang="en-US" sz="2000" dirty="0">
                <a:latin typeface="Times New Roman" panose="02020603050405020304" pitchFamily="18" charset="0"/>
                <a:cs typeface="Times New Roman" panose="02020603050405020304" pitchFamily="18" charset="0"/>
              </a:rPr>
              <a:t>Project folder structure created for frontend and backend.</a:t>
            </a:r>
          </a:p>
          <a:p>
            <a:pPr algn="just"/>
            <a:r>
              <a:rPr lang="en-US" sz="2000" b="1" dirty="0">
                <a:latin typeface="Times New Roman" panose="02020603050405020304" pitchFamily="18" charset="0"/>
                <a:cs typeface="Times New Roman" panose="02020603050405020304" pitchFamily="18" charset="0"/>
              </a:rPr>
              <a:t>2. User Authentication Module</a:t>
            </a:r>
          </a:p>
          <a:p>
            <a:pPr marL="0" indent="0" algn="just">
              <a:buNone/>
            </a:pPr>
            <a:r>
              <a:rPr lang="en-US" sz="2000" dirty="0">
                <a:latin typeface="Times New Roman" panose="02020603050405020304" pitchFamily="18" charset="0"/>
                <a:cs typeface="Times New Roman" panose="02020603050405020304" pitchFamily="18" charset="0"/>
              </a:rPr>
              <a:t>User registration and login functionality implemented.</a:t>
            </a:r>
          </a:p>
          <a:p>
            <a:pPr algn="just"/>
            <a:r>
              <a:rPr lang="en-US" sz="2000" b="1" dirty="0">
                <a:latin typeface="Times New Roman" panose="02020603050405020304" pitchFamily="18" charset="0"/>
                <a:cs typeface="Times New Roman" panose="02020603050405020304" pitchFamily="18" charset="0"/>
              </a:rPr>
              <a:t>3. Database Design: </a:t>
            </a:r>
            <a:r>
              <a:rPr lang="en-US" sz="2000" dirty="0">
                <a:latin typeface="Times New Roman" panose="02020603050405020304" pitchFamily="18" charset="0"/>
                <a:cs typeface="Times New Roman" panose="02020603050405020304" pitchFamily="18" charset="0"/>
              </a:rPr>
              <a:t>MongoDB database created.</a:t>
            </a:r>
          </a:p>
          <a:p>
            <a:pPr marL="0" indent="0" algn="just">
              <a:buNone/>
            </a:pPr>
            <a:r>
              <a:rPr lang="en-US" sz="2000" dirty="0">
                <a:latin typeface="Times New Roman" panose="02020603050405020304" pitchFamily="18" charset="0"/>
                <a:cs typeface="Times New Roman" panose="02020603050405020304" pitchFamily="18" charset="0"/>
              </a:rPr>
              <a:t>Collections for users and transactions designed and connected with backend APIs.</a:t>
            </a:r>
          </a:p>
        </p:txBody>
      </p:sp>
      <p:sp>
        <p:nvSpPr>
          <p:cNvPr id="6" name="Rectangle 2">
            <a:extLst>
              <a:ext uri="{FF2B5EF4-FFF2-40B4-BE49-F238E27FC236}">
                <a16:creationId xmlns:a16="http://schemas.microsoft.com/office/drawing/2014/main" id="{63B49AC0-6AA6-4A0C-9A75-E68EEA2B407B}"/>
              </a:ext>
            </a:extLst>
          </p:cNvPr>
          <p:cNvSpPr>
            <a:spLocks noGrp="1" noChangeArrowheads="1"/>
          </p:cNvSpPr>
          <p:nvPr>
            <p:ph sz="half" idx="2"/>
          </p:nvPr>
        </p:nvSpPr>
        <p:spPr bwMode="auto">
          <a:xfrm>
            <a:off x="6535901" y="1802398"/>
            <a:ext cx="5401102" cy="452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Times New Roman" panose="02020603050405020304" pitchFamily="18" charset="0"/>
                <a:cs typeface="Times New Roman" panose="02020603050405020304" pitchFamily="18" charset="0"/>
              </a:rPr>
              <a:t>4. Income &amp; Expense Management Module</a:t>
            </a:r>
          </a:p>
          <a:p>
            <a:pPr marL="0" indent="0">
              <a:buNone/>
            </a:pPr>
            <a:r>
              <a:rPr lang="en-US" sz="2000" dirty="0">
                <a:latin typeface="Times New Roman" panose="02020603050405020304" pitchFamily="18" charset="0"/>
                <a:cs typeface="Times New Roman" panose="02020603050405020304" pitchFamily="18" charset="0"/>
              </a:rPr>
              <a:t>Users can add, edit, and delete income and expense records.</a:t>
            </a:r>
          </a:p>
          <a:p>
            <a:pPr marL="0" indent="0">
              <a:buNone/>
            </a:pPr>
            <a:r>
              <a:rPr lang="en-US" sz="2000" dirty="0">
                <a:latin typeface="Times New Roman" panose="02020603050405020304" pitchFamily="18" charset="0"/>
                <a:cs typeface="Times New Roman" panose="02020603050405020304" pitchFamily="18" charset="0"/>
              </a:rPr>
              <a:t>Data successfully stored and retrieved from database.</a:t>
            </a:r>
          </a:p>
          <a:p>
            <a:r>
              <a:rPr lang="en-US" sz="2000" b="1" dirty="0">
                <a:latin typeface="Times New Roman" panose="02020603050405020304" pitchFamily="18" charset="0"/>
                <a:cs typeface="Times New Roman" panose="02020603050405020304" pitchFamily="18" charset="0"/>
              </a:rPr>
              <a:t>5. Basic UI Development: </a:t>
            </a:r>
            <a:r>
              <a:rPr lang="en-US" sz="2000" dirty="0">
                <a:latin typeface="Times New Roman" panose="02020603050405020304" pitchFamily="18" charset="0"/>
                <a:cs typeface="Times New Roman" panose="02020603050405020304" pitchFamily="18" charset="0"/>
              </a:rPr>
              <a:t>Initial frontend pages developed:</a:t>
            </a:r>
          </a:p>
          <a:p>
            <a:pPr lvl="1"/>
            <a:r>
              <a:rPr lang="en-US" sz="2000" dirty="0">
                <a:latin typeface="Times New Roman" panose="02020603050405020304" pitchFamily="18" charset="0"/>
                <a:cs typeface="Times New Roman" panose="02020603050405020304" pitchFamily="18" charset="0"/>
              </a:rPr>
              <a:t>Login Page</a:t>
            </a:r>
          </a:p>
          <a:p>
            <a:pPr lvl="1"/>
            <a:r>
              <a:rPr lang="en-US" sz="2000" dirty="0">
                <a:latin typeface="Times New Roman" panose="02020603050405020304" pitchFamily="18" charset="0"/>
                <a:cs typeface="Times New Roman" panose="02020603050405020304" pitchFamily="18" charset="0"/>
              </a:rPr>
              <a:t>Registration Page</a:t>
            </a:r>
          </a:p>
          <a:p>
            <a:pPr lvl="1"/>
            <a:r>
              <a:rPr lang="en-US" sz="2000" dirty="0">
                <a:latin typeface="Times New Roman" panose="02020603050405020304" pitchFamily="18" charset="0"/>
                <a:cs typeface="Times New Roman" panose="02020603050405020304" pitchFamily="18" charset="0"/>
              </a:rPr>
              <a:t>Dashboard Layout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br>
              <a:rPr lang="en-US" sz="2000" dirty="0">
                <a:latin typeface="Times New Roman" panose="02020603050405020304" pitchFamily="18" charset="0"/>
                <a:cs typeface="Times New Roman" panose="02020603050405020304" pitchFamily="18" charset="0"/>
              </a:rPr>
            </a:b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7661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E456B-10C1-3CA8-CD0A-6D1E5E0BF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30D13F-5FC6-2321-088E-1FD93899AC92}"/>
              </a:ext>
            </a:extLst>
          </p:cNvPr>
          <p:cNvSpPr>
            <a:spLocks noGrp="1"/>
          </p:cNvSpPr>
          <p:nvPr>
            <p:ph type="title"/>
          </p:nvPr>
        </p:nvSpPr>
        <p:spPr>
          <a:xfrm>
            <a:off x="0" y="-3175"/>
            <a:ext cx="12192000" cy="1258951"/>
          </a:xfrm>
          <a:solidFill>
            <a:schemeClr val="accent2">
              <a:lumMod val="40000"/>
              <a:lumOff val="60000"/>
            </a:schemeClr>
          </a:solidFill>
        </p:spPr>
        <p:txBody>
          <a:bodyPr>
            <a:normAutofit/>
          </a:bodyPr>
          <a:lstStyle/>
          <a:p>
            <a:pPr algn="ctr"/>
            <a:r>
              <a:rPr lang="en-IN" sz="4000" b="1" dirty="0">
                <a:latin typeface="Times New Roman" panose="02020603050405020304" pitchFamily="18" charset="0"/>
                <a:cs typeface="Times New Roman" panose="02020603050405020304" pitchFamily="18" charset="0"/>
              </a:rPr>
              <a:t>RESEARCH OUTCOME</a:t>
            </a:r>
            <a:endParaRPr lang="en-IN" sz="40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B8FC024B-EB8F-6A04-091E-94AAF1313BBC}"/>
              </a:ext>
            </a:extLst>
          </p:cNvPr>
          <p:cNvSpPr>
            <a:spLocks noGrp="1"/>
          </p:cNvSpPr>
          <p:nvPr>
            <p:ph idx="1"/>
          </p:nvPr>
        </p:nvSpPr>
        <p:spPr>
          <a:xfrm>
            <a:off x="542599" y="1594362"/>
            <a:ext cx="7086637" cy="4625311"/>
          </a:xfrm>
        </p:spPr>
        <p:txBody>
          <a:bodyPr>
            <a:noAutofit/>
          </a:bodyPr>
          <a:lstStyle/>
          <a:p>
            <a:r>
              <a:rPr lang="en-US" sz="2000" dirty="0">
                <a:latin typeface="Times New Roman" panose="02020603050405020304" pitchFamily="18" charset="0"/>
                <a:cs typeface="Times New Roman" panose="02020603050405020304" pitchFamily="18" charset="0"/>
              </a:rPr>
              <a:t>During the research phase of the </a:t>
            </a:r>
            <a:r>
              <a:rPr lang="en-US" sz="2000" b="1" dirty="0">
                <a:latin typeface="Times New Roman" panose="02020603050405020304" pitchFamily="18" charset="0"/>
                <a:cs typeface="Times New Roman" panose="02020603050405020304" pitchFamily="18" charset="0"/>
              </a:rPr>
              <a:t>Finance Buddy </a:t>
            </a:r>
            <a:r>
              <a:rPr lang="en-US" sz="2000" dirty="0">
                <a:latin typeface="Times New Roman" panose="02020603050405020304" pitchFamily="18" charset="0"/>
                <a:cs typeface="Times New Roman" panose="02020603050405020304" pitchFamily="18" charset="0"/>
              </a:rPr>
              <a:t>project, several important findings were identified.</a:t>
            </a:r>
          </a:p>
          <a:p>
            <a:r>
              <a:rPr lang="en-US" sz="2000" dirty="0">
                <a:latin typeface="Times New Roman" panose="02020603050405020304" pitchFamily="18" charset="0"/>
                <a:cs typeface="Times New Roman" panose="02020603050405020304" pitchFamily="18" charset="0"/>
              </a:rPr>
              <a:t>It was observed that many people face difficulty in managing their daily expenses and maintaining a proper budget. Most existing finance applications provide basic expense tracking but lack automation and predictive analysis features.</a:t>
            </a:r>
          </a:p>
          <a:p>
            <a:r>
              <a:rPr lang="en-US" sz="2000" dirty="0">
                <a:latin typeface="Times New Roman" panose="02020603050405020304" pitchFamily="18" charset="0"/>
                <a:cs typeface="Times New Roman" panose="02020603050405020304" pitchFamily="18" charset="0"/>
              </a:rPr>
              <a:t>The research also showed that the use of Artificial Intelligence and Machine Learning can help analyze spending patterns and predict future expenses.</a:t>
            </a:r>
          </a:p>
          <a:p>
            <a:r>
              <a:rPr lang="en-US" sz="2000" dirty="0">
                <a:latin typeface="Times New Roman" panose="02020603050405020304" pitchFamily="18" charset="0"/>
                <a:cs typeface="Times New Roman" panose="02020603050405020304" pitchFamily="18" charset="0"/>
              </a:rPr>
              <a:t>Based on these findings, the </a:t>
            </a:r>
            <a:r>
              <a:rPr lang="en-US" sz="2000" b="1" dirty="0">
                <a:latin typeface="Times New Roman" panose="02020603050405020304" pitchFamily="18" charset="0"/>
                <a:cs typeface="Times New Roman" panose="02020603050405020304" pitchFamily="18" charset="0"/>
              </a:rPr>
              <a:t>Finance Buddy </a:t>
            </a:r>
            <a:r>
              <a:rPr lang="en-US" sz="2000" dirty="0">
                <a:latin typeface="Times New Roman" panose="02020603050405020304" pitchFamily="18" charset="0"/>
                <a:cs typeface="Times New Roman" panose="02020603050405020304" pitchFamily="18" charset="0"/>
              </a:rPr>
              <a:t>system was designed to combine expense tracking, automation, analytics, and prediction into a single platform. The research confirmed that such a system can improve financial awareness and help users make better financial decisions.</a:t>
            </a:r>
          </a:p>
        </p:txBody>
      </p:sp>
      <p:pic>
        <p:nvPicPr>
          <p:cNvPr id="6" name="Picture 5">
            <a:extLst>
              <a:ext uri="{FF2B5EF4-FFF2-40B4-BE49-F238E27FC236}">
                <a16:creationId xmlns:a16="http://schemas.microsoft.com/office/drawing/2014/main" id="{CCAD7F89-7107-3110-DF90-2BBE281C301B}"/>
              </a:ext>
            </a:extLst>
          </p:cNvPr>
          <p:cNvPicPr>
            <a:picLocks noChangeAspect="1"/>
          </p:cNvPicPr>
          <p:nvPr/>
        </p:nvPicPr>
        <p:blipFill>
          <a:blip r:embed="rId3"/>
          <a:stretch>
            <a:fillRect/>
          </a:stretch>
        </p:blipFill>
        <p:spPr>
          <a:xfrm>
            <a:off x="7705344" y="2404872"/>
            <a:ext cx="4243979" cy="3286583"/>
          </a:xfrm>
          <a:prstGeom prst="rect">
            <a:avLst/>
          </a:prstGeom>
        </p:spPr>
      </p:pic>
    </p:spTree>
    <p:extLst>
      <p:ext uri="{BB962C8B-B14F-4D97-AF65-F5344CB8AC3E}">
        <p14:creationId xmlns:p14="http://schemas.microsoft.com/office/powerpoint/2010/main" val="1329742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35E0D-1D75-E91F-E75B-C4DDF801D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98D0A-C035-F4F3-2047-44489595050A}"/>
              </a:ext>
            </a:extLst>
          </p:cNvPr>
          <p:cNvSpPr>
            <a:spLocks noGrp="1"/>
          </p:cNvSpPr>
          <p:nvPr>
            <p:ph type="title"/>
          </p:nvPr>
        </p:nvSpPr>
        <p:spPr>
          <a:xfrm>
            <a:off x="0" y="-3175"/>
            <a:ext cx="12192000" cy="1246759"/>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References</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704266AB-4FDC-DC5D-1539-EDBFF62C9C14}"/>
              </a:ext>
            </a:extLst>
          </p:cNvPr>
          <p:cNvSpPr>
            <a:spLocks noGrp="1"/>
          </p:cNvSpPr>
          <p:nvPr>
            <p:ph idx="1"/>
          </p:nvPr>
        </p:nvSpPr>
        <p:spPr>
          <a:xfrm>
            <a:off x="1326185" y="1552714"/>
            <a:ext cx="10492563" cy="4391246"/>
          </a:xfrm>
        </p:spPr>
        <p:txBody>
          <a:bodyPr>
            <a:noAutofit/>
          </a:bodyPr>
          <a:lstStyle/>
          <a:p>
            <a:r>
              <a:rPr lang="en-IN" sz="2000" dirty="0">
                <a:latin typeface="Times New Roman" panose="02020603050405020304" pitchFamily="18" charset="0"/>
                <a:cs typeface="Times New Roman" panose="02020603050405020304" pitchFamily="18" charset="0"/>
              </a:rPr>
              <a:t>Pressman, R. S. </a:t>
            </a:r>
            <a:r>
              <a:rPr lang="en-IN" sz="2000" i="1" dirty="0">
                <a:latin typeface="Times New Roman" panose="02020603050405020304" pitchFamily="18" charset="0"/>
                <a:cs typeface="Times New Roman" panose="02020603050405020304" pitchFamily="18" charset="0"/>
              </a:rPr>
              <a:t>Software Engineering: A Practitioner’s Approach</a:t>
            </a:r>
            <a:r>
              <a:rPr lang="en-IN" sz="2000" dirty="0">
                <a:latin typeface="Times New Roman" panose="02020603050405020304" pitchFamily="18" charset="0"/>
                <a:cs typeface="Times New Roman" panose="02020603050405020304" pitchFamily="18" charset="0"/>
              </a:rPr>
              <a:t>. McGraw-Hill Education.</a:t>
            </a:r>
          </a:p>
          <a:p>
            <a:r>
              <a:rPr lang="en-IN" sz="2000" dirty="0" err="1">
                <a:latin typeface="Times New Roman" panose="02020603050405020304" pitchFamily="18" charset="0"/>
                <a:cs typeface="Times New Roman" panose="02020603050405020304" pitchFamily="18" charset="0"/>
              </a:rPr>
              <a:t>Géron</a:t>
            </a:r>
            <a:r>
              <a:rPr lang="en-IN" sz="2000" dirty="0">
                <a:latin typeface="Times New Roman" panose="02020603050405020304" pitchFamily="18" charset="0"/>
                <a:cs typeface="Times New Roman" panose="02020603050405020304" pitchFamily="18" charset="0"/>
              </a:rPr>
              <a:t>, Aurélien. </a:t>
            </a:r>
            <a:r>
              <a:rPr lang="en-IN" sz="2000" i="1" dirty="0">
                <a:latin typeface="Times New Roman" panose="02020603050405020304" pitchFamily="18" charset="0"/>
                <a:cs typeface="Times New Roman" panose="02020603050405020304" pitchFamily="18" charset="0"/>
              </a:rPr>
              <a:t>Hands-On Machine Learning with Scikit-Learn and TensorFlow</a:t>
            </a:r>
            <a:r>
              <a:rPr lang="en-IN" sz="2000" dirty="0">
                <a:latin typeface="Times New Roman" panose="02020603050405020304" pitchFamily="18" charset="0"/>
                <a:cs typeface="Times New Roman" panose="02020603050405020304" pitchFamily="18" charset="0"/>
              </a:rPr>
              <a:t>. O’Reilly Media.</a:t>
            </a:r>
          </a:p>
          <a:p>
            <a:r>
              <a:rPr lang="en-IN" sz="2000" dirty="0">
                <a:latin typeface="Times New Roman" panose="02020603050405020304" pitchFamily="18" charset="0"/>
                <a:cs typeface="Times New Roman" panose="02020603050405020304" pitchFamily="18" charset="0"/>
              </a:rPr>
              <a:t>Tesseract OCR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3"/>
              </a:rPr>
              <a:t>https://tesseract-ocr.github.io/</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MongoDB Official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4"/>
              </a:rPr>
              <a:t>https://www.mongodb.com/docs/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Node.js Official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5"/>
              </a:rPr>
              <a:t>https://nodejs.org/en/docs/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React.js Official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6"/>
              </a:rPr>
              <a:t>https://react.dev/</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Scikit-learn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7"/>
              </a:rPr>
              <a:t>https://scikit-learn.org/</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Pandas Documentation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8"/>
              </a:rPr>
              <a:t>https://pandas.pydata.org/docs/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787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2560</TotalTime>
  <Words>1147</Words>
  <Application>Microsoft Office PowerPoint</Application>
  <PresentationFormat>Widescreen</PresentationFormat>
  <Paragraphs>126</Paragraphs>
  <Slides>11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Aptos Display</vt:lpstr>
      <vt:lpstr>Arial</vt:lpstr>
      <vt:lpstr>Symbol</vt:lpstr>
      <vt:lpstr>Times New Roman</vt:lpstr>
      <vt:lpstr>Wingdings</vt:lpstr>
      <vt:lpstr>Office Theme</vt:lpstr>
      <vt:lpstr>Major Project (CA301P) Even Semester Session 2025-26  “Finance Buddy: AI Personal Finance Manager”</vt:lpstr>
      <vt:lpstr>Content</vt:lpstr>
      <vt:lpstr>Introduction</vt:lpstr>
      <vt:lpstr>LITERATURE REVIEW</vt:lpstr>
      <vt:lpstr>OBJECTIVE</vt:lpstr>
      <vt:lpstr>Technology (Hardware Requirements)</vt:lpstr>
      <vt:lpstr>Technology (Software Requirements)</vt:lpstr>
      <vt:lpstr>Modules</vt:lpstr>
      <vt:lpstr>  MODULES IMPLEMENTATION PROGRESS</vt:lpstr>
      <vt:lpstr>RESEARCH OUTCOME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Project-I (K24MCA18P) Odd Semester Session 2024-25</dc:title>
  <dc:creator>gulshan kumari</dc:creator>
  <cp:lastModifiedBy>Gulshan Kumari</cp:lastModifiedBy>
  <cp:revision>59</cp:revision>
  <dcterms:created xsi:type="dcterms:W3CDTF">2024-09-12T08:34:15Z</dcterms:created>
  <dcterms:modified xsi:type="dcterms:W3CDTF">2026-04-13T05:24:21Z</dcterms:modified>
</cp:coreProperties>
</file>